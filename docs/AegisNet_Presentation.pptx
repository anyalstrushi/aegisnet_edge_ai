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a5b82bf-63a9-5760-b982-4702fcfbe096}">
          <p14:sldIdLst>
            <p14:sldId id="256"/>
          </p14:sldIdLst>
        </p14:section>
        <p14:section name="Why now" id="{3ba43f7e-80e2-6c46-2f1f-a8c18ee06b03}">
          <p14:sldIdLst>
            <p14:sldId id="257"/>
            <p14:sldId id="258"/>
          </p14:sldIdLst>
        </p14:section>
        <p14:section name="Solution" id="{b0c835bf-0e99-8746-9298-f6417fdfc63c}">
          <p14:sldIdLst>
            <p14:sldId id="259"/>
            <p14:sldId id="260"/>
          </p14:sldIdLst>
        </p14:section>
        <p14:section name="Evidence" id="{4e5e931b-b512-ff29-6305-14a0f277c56e}">
          <p14:sldIdLst>
            <p14:sldId id="261"/>
            <p14:sldId id="262"/>
            <p14:sldId id="263"/>
            <p14:sldId id="264"/>
            <p14:sldId id="265"/>
            <p14:sldId id="266"/>
            <p14:sldId id="267"/>
          </p14:sldIdLst>
        </p14:section>
        <p14:section name="Run it" id="{2accbe88-5841-5b59-8706-3802c74ac37d}">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EFF"/>
                </a:solidFill>
                <a:latin typeface="+mn-lt"/>
              </a:defRPr>
            </a:pPr>
            <a:r>
              <a:rPr sz="1300" b="0" i="0" u="none" strike="noStrike">
                <a:solidFill>
                  <a:srgbClr val="E8EEFF"/>
                </a:solidFill>
                <a:latin typeface="+mn-lt"/>
              </a:rPr>
              <a:t>Share of unseen-ransomware minutes</a:t>
            </a:r>
          </a:p>
        </c:rich>
      </c:tx>
      <c:layout/>
      <c:overlay val="0"/>
    </c:title>
    <c:autoTitleDeleted val="0"/>
    <c:plotArea>
      <c:layout/>
      <c:barChart>
        <c:barDir val="bar"/>
        <c:grouping val="clustered"/>
        <c:varyColors val="0"/>
        <c:ser>
          <c:idx val="0"/>
          <c:order val="0"/>
          <c:tx>
            <c:strRef>
              <c:f>Sheet1!$B$1</c:f>
              <c:strCache>
                <c:ptCount val="1"/>
                <c:pt idx="0">
                  <c:v>% of ransomware minutes</c:v>
                </c:pt>
              </c:strCache>
            </c:strRef>
          </c:tx>
          <c:spPr>
            <a:solidFill>
              <a:srgbClr val="7F8DB3"/>
            </a:solidFill>
            <a:effectLst/>
          </c:spPr>
          <c:invertIfNegative val="0"/>
          <c:dLbls>
            <c:numFmt formatCode="0&quot;%&quot;" sourceLinked="0"/>
            <c:txPr>
              <a:bodyPr/>
              <a:lstStyle/>
              <a:p>
                <a:pPr>
                  <a:defRPr b="0" i="0" strike="noStrike" sz="1200" u="none">
                    <a:solidFill>
                      <a:srgbClr val="E8EEFF"/>
                    </a:solidFill>
                    <a:latin typeface="+mn-lt"/>
                  </a:defRPr>
                </a:pPr>
              </a:p>
            </c:txPr>
            <c:showLegendKey val="0"/>
            <c:showVal val="1"/>
            <c:showCatName val="0"/>
            <c:showSerName val="0"/>
            <c:showPercent val="0"/>
            <c:showBubbleSize val="0"/>
            <c:showLeaderLines val="0"/>
          </c:dLbls>
          <c:dPt>
            <c:idx val="0"/>
            <c:invertIfNegative val="0"/>
            <c:bubble3D val="0"/>
            <c:spPr>
              <a:solidFill>
                <a:srgbClr val="7F8DB3"/>
              </a:solidFill>
              <a:effectLst/>
            </c:spPr>
          </c:dPt>
          <c:dPt>
            <c:idx val="1"/>
            <c:invertIfNegative val="0"/>
            <c:bubble3D val="0"/>
            <c:spPr>
              <a:solidFill>
                <a:srgbClr val="8B7BFF"/>
              </a:solidFill>
              <a:effectLst/>
            </c:spPr>
          </c:dPt>
          <c:dPt>
            <c:idx val="2"/>
            <c:invertIfNegative val="0"/>
            <c:bubble3D val="0"/>
            <c:spPr>
              <a:solidFill>
                <a:srgbClr val="00F0C8"/>
              </a:solidFill>
              <a:effectLst/>
            </c:spPr>
          </c:dPt>
          <c:dPt>
            <c:idx val="3"/>
            <c:invertIfNegative val="0"/>
            <c:bubble3D val="0"/>
            <c:spPr>
              <a:solidFill>
                <a:srgbClr val="FFB020"/>
              </a:solidFill>
              <a:effectLst/>
            </c:spPr>
          </c:dPt>
          <c:dPt>
            <c:idx val="4"/>
            <c:invertIfNegative val="0"/>
            <c:bubble3D val="0"/>
            <c:spPr>
              <a:solidFill>
                <a:srgbClr val="FF3D71"/>
              </a:solidFill>
              <a:effectLst/>
            </c:spPr>
          </c:dPt>
          <c:cat>
            <c:multiLvlStrRef>
              <c:f>Sheet1!$A$2:$A$6</c:f>
              <c:multiLvlStrCache>
                <c:ptCount val="5"/>
                <c:lvl>
                  <c:pt idx="0">
                    <c:v>Classifier only</c:v>
                  </c:pt>
                  <c:pt idx="1">
                    <c:v>Autoencoder only</c:v>
                  </c:pt>
                  <c:pt idx="2">
                    <c:v>AegisNet fused</c:v>
                  </c:pt>
                  <c:pt idx="3">
                    <c:v>Flagged as NEW pattern</c:v>
                  </c:pt>
                  <c:pt idx="4">
                    <c:v>Mislabelled as known</c:v>
                  </c:pt>
                </c:lvl>
              </c:multiLvlStrCache>
            </c:multiLvlStrRef>
          </c:cat>
          <c:val>
            <c:numRef>
              <c:f>Sheet1!$B$2:$B$6</c:f>
              <c:numCache>
                <c:formatCode>General</c:formatCode>
                <c:ptCount val="5"/>
                <c:pt idx="0">
                  <c:v>0</c:v>
                </c:pt>
                <c:pt idx="1">
                  <c:v>100</c:v>
                </c:pt>
                <c:pt idx="2">
                  <c:v>100</c:v>
                </c:pt>
                <c:pt idx="3">
                  <c:v>100</c:v>
                </c:pt>
                <c:pt idx="4">
                  <c:v>0</c:v>
                </c:pt>
              </c:numCache>
            </c:numRef>
          </c:val>
        </c:ser>
        <c:dLbls>
          <c:numFmt formatCode="0&quot;%&quot;" sourceLinked="0"/>
          <c:txPr>
            <a:bodyPr/>
            <a:lstStyle/>
            <a:p>
              <a:pPr>
                <a:defRPr b="0" i="0" strike="noStrike" sz="1200" u="none">
                  <a:solidFill>
                    <a:srgbClr val="E8EE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EEFF"/>
                </a:solidFill>
                <a:latin typeface="+mn-lt"/>
              </a:defRPr>
            </a:pPr>
            <a:endParaRPr lang="en-US"/>
          </a:p>
        </c:txPr>
        <c:crossAx val="2094734552"/>
        <c:crosses val="autoZero"/>
        <c:auto val="1"/>
        <c:lblAlgn val="ctr"/>
        <c:noMultiLvlLbl val="1"/>
      </c:catAx>
      <c:valAx>
        <c:axId val="2094734552"/>
        <c:scaling>
          <c:orientation val="minMax"/>
          <c:max val="1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a tiny neural network that detects attacks, explains why, and asks a human before risky actions. Mention it is built from scratch in NumPy, so it runs anywhere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Gartner (via industry trackers), McKinsey State of AI 2026 and model trackers, early Oct 2026. Verify the figures once more before presenting. Key message: the gap is production, not model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real-world requirements: small and private, explainable, governed. AegisNet is designed around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Stress that Brain 1 is trained on normal data only, so it does not need examples of the attack. Brain 2 gives names. Fusion combines them into one 0-100 risk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one talking point. If time is short, spend your time on Dual-Brain, Zero-day safety net and Guardian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simulated so every result is reproducible and labelled. Flash crowds are legitimate traffic spikes that look like DDoS: they test for false alarms. Be upfront: real-data results will be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10 unseen days (685 attack minutes). Be honest: 3 of 40 incidents were false. The classifier alone scores the highest AUC on known attacks; the fused system exists for the zero-day case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one red band and show the risk curve crossing the alert line almost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experiment. A supervised classifier cannot recognise what it was never shown. The autoencoder does not need to: anything unlike normal is flagged. The signature check then refuses to give it a wrong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comes from the autoencoder: the error per metric tells which metric broke the pattern. Note that the 'expected' value is the model's reconstruction, not a ground-truth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text is real output from the run, not a mock-up. This is the agentic-AI trend done safely: bounded autonomy with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about a tenth of agents reach production, partly because nobody monitors them. The drift watchdog compares live data with training data and says when to retrain. Latency is tiny, so it fits edge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free and open source. No GPU, no API keys, no internet after pip install. Mention the README and outputs/report.html.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honesty: simulated data and simulated actions are limits, and the next steps address them.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chemeClr val="tx2"/>
                </a:solidFill>
              </a:rPr>
              <a:t>AEGISNET  |  Edge-AI cyber defence  |  by Rushi</a:t>
            </a:r>
            <a:endParaRPr lang="en-US" sz="1000" dirty="0"/>
          </a:p>
        </p:txBody>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ynapse"/>
          <p:cNvSpPr/>
          <p:nvPr/>
        </p:nvSpPr>
        <p:spPr>
          <a:xfrm flipV="1">
            <a:off x="5394960" y="1257300"/>
            <a:ext cx="1005840" cy="125730"/>
          </a:xfrm>
          <a:prstGeom prst="line">
            <a:avLst/>
          </a:prstGeom>
          <a:noFill/>
          <a:ln w="9525">
            <a:solidFill>
              <a:schemeClr val="accent5"/>
            </a:solidFill>
            <a:prstDash val="solid"/>
          </a:ln>
        </p:spPr>
      </p:sp>
      <p:sp>
        <p:nvSpPr>
          <p:cNvPr id="3" name="synapse"/>
          <p:cNvSpPr/>
          <p:nvPr/>
        </p:nvSpPr>
        <p:spPr>
          <a:xfrm>
            <a:off x="5394960" y="1383030"/>
            <a:ext cx="1005840" cy="377190"/>
          </a:xfrm>
          <a:prstGeom prst="line">
            <a:avLst/>
          </a:prstGeom>
          <a:noFill/>
          <a:ln w="9525">
            <a:solidFill>
              <a:schemeClr val="accent5"/>
            </a:solidFill>
            <a:prstDash val="solid"/>
          </a:ln>
        </p:spPr>
      </p:sp>
      <p:sp>
        <p:nvSpPr>
          <p:cNvPr id="4" name="synapse"/>
          <p:cNvSpPr/>
          <p:nvPr/>
        </p:nvSpPr>
        <p:spPr>
          <a:xfrm>
            <a:off x="5394960" y="1383030"/>
            <a:ext cx="1005840" cy="880110"/>
          </a:xfrm>
          <a:prstGeom prst="line">
            <a:avLst/>
          </a:prstGeom>
          <a:noFill/>
          <a:ln w="9525">
            <a:solidFill>
              <a:schemeClr val="accent5"/>
            </a:solidFill>
            <a:prstDash val="solid"/>
          </a:ln>
        </p:spPr>
      </p:sp>
      <p:sp>
        <p:nvSpPr>
          <p:cNvPr id="5" name="synapse"/>
          <p:cNvSpPr/>
          <p:nvPr/>
        </p:nvSpPr>
        <p:spPr>
          <a:xfrm>
            <a:off x="5394960" y="1383030"/>
            <a:ext cx="1005840" cy="1383030"/>
          </a:xfrm>
          <a:prstGeom prst="line">
            <a:avLst/>
          </a:prstGeom>
          <a:noFill/>
          <a:ln w="9525">
            <a:solidFill>
              <a:schemeClr val="accent5"/>
            </a:solidFill>
            <a:prstDash val="solid"/>
          </a:ln>
        </p:spPr>
      </p:sp>
      <p:sp>
        <p:nvSpPr>
          <p:cNvPr id="6" name="synapse"/>
          <p:cNvSpPr/>
          <p:nvPr/>
        </p:nvSpPr>
        <p:spPr>
          <a:xfrm>
            <a:off x="5394960" y="1383030"/>
            <a:ext cx="1005840" cy="1885950"/>
          </a:xfrm>
          <a:prstGeom prst="line">
            <a:avLst/>
          </a:prstGeom>
          <a:noFill/>
          <a:ln w="9525">
            <a:solidFill>
              <a:schemeClr val="accent5"/>
            </a:solidFill>
            <a:prstDash val="solid"/>
          </a:ln>
        </p:spPr>
      </p:sp>
      <p:sp>
        <p:nvSpPr>
          <p:cNvPr id="7" name="synapse"/>
          <p:cNvSpPr/>
          <p:nvPr/>
        </p:nvSpPr>
        <p:spPr>
          <a:xfrm>
            <a:off x="5394960" y="1383030"/>
            <a:ext cx="1005840" cy="2388870"/>
          </a:xfrm>
          <a:prstGeom prst="line">
            <a:avLst/>
          </a:prstGeom>
          <a:noFill/>
          <a:ln w="9525">
            <a:solidFill>
              <a:schemeClr val="accent5"/>
            </a:solidFill>
            <a:prstDash val="solid"/>
          </a:ln>
        </p:spPr>
      </p:sp>
      <p:sp>
        <p:nvSpPr>
          <p:cNvPr id="8" name="synapse"/>
          <p:cNvSpPr/>
          <p:nvPr/>
        </p:nvSpPr>
        <p:spPr>
          <a:xfrm flipV="1">
            <a:off x="5394960" y="1257300"/>
            <a:ext cx="1005840" cy="880110"/>
          </a:xfrm>
          <a:prstGeom prst="line">
            <a:avLst/>
          </a:prstGeom>
          <a:noFill/>
          <a:ln w="9525">
            <a:solidFill>
              <a:schemeClr val="accent5"/>
            </a:solidFill>
            <a:prstDash val="solid"/>
          </a:ln>
        </p:spPr>
      </p:sp>
      <p:sp>
        <p:nvSpPr>
          <p:cNvPr id="9" name="synapse"/>
          <p:cNvSpPr/>
          <p:nvPr/>
        </p:nvSpPr>
        <p:spPr>
          <a:xfrm flipV="1">
            <a:off x="5394960" y="1760220"/>
            <a:ext cx="1005840" cy="377190"/>
          </a:xfrm>
          <a:prstGeom prst="line">
            <a:avLst/>
          </a:prstGeom>
          <a:noFill/>
          <a:ln w="9525">
            <a:solidFill>
              <a:schemeClr val="accent5"/>
            </a:solidFill>
            <a:prstDash val="solid"/>
          </a:ln>
        </p:spPr>
      </p:sp>
      <p:sp>
        <p:nvSpPr>
          <p:cNvPr id="10" name="synapse"/>
          <p:cNvSpPr/>
          <p:nvPr/>
        </p:nvSpPr>
        <p:spPr>
          <a:xfrm>
            <a:off x="5394960" y="2137410"/>
            <a:ext cx="1005840" cy="125730"/>
          </a:xfrm>
          <a:prstGeom prst="line">
            <a:avLst/>
          </a:prstGeom>
          <a:noFill/>
          <a:ln w="9525">
            <a:solidFill>
              <a:schemeClr val="accent5"/>
            </a:solidFill>
            <a:prstDash val="solid"/>
          </a:ln>
        </p:spPr>
      </p:sp>
      <p:sp>
        <p:nvSpPr>
          <p:cNvPr id="11" name="synapse"/>
          <p:cNvSpPr/>
          <p:nvPr/>
        </p:nvSpPr>
        <p:spPr>
          <a:xfrm>
            <a:off x="5394960" y="2137410"/>
            <a:ext cx="1005840" cy="628650"/>
          </a:xfrm>
          <a:prstGeom prst="line">
            <a:avLst/>
          </a:prstGeom>
          <a:noFill/>
          <a:ln w="9525">
            <a:solidFill>
              <a:schemeClr val="accent5"/>
            </a:solidFill>
            <a:prstDash val="solid"/>
          </a:ln>
        </p:spPr>
      </p:sp>
      <p:sp>
        <p:nvSpPr>
          <p:cNvPr id="12" name="synapse"/>
          <p:cNvSpPr/>
          <p:nvPr/>
        </p:nvSpPr>
        <p:spPr>
          <a:xfrm>
            <a:off x="5394960" y="2137410"/>
            <a:ext cx="1005840" cy="1131570"/>
          </a:xfrm>
          <a:prstGeom prst="line">
            <a:avLst/>
          </a:prstGeom>
          <a:noFill/>
          <a:ln w="9525">
            <a:solidFill>
              <a:schemeClr val="accent5"/>
            </a:solidFill>
            <a:prstDash val="solid"/>
          </a:ln>
        </p:spPr>
      </p:sp>
      <p:sp>
        <p:nvSpPr>
          <p:cNvPr id="13" name="synapse"/>
          <p:cNvSpPr/>
          <p:nvPr/>
        </p:nvSpPr>
        <p:spPr>
          <a:xfrm>
            <a:off x="5394960" y="2137410"/>
            <a:ext cx="1005840" cy="1634490"/>
          </a:xfrm>
          <a:prstGeom prst="line">
            <a:avLst/>
          </a:prstGeom>
          <a:noFill/>
          <a:ln w="9525">
            <a:solidFill>
              <a:schemeClr val="accent5"/>
            </a:solidFill>
            <a:prstDash val="solid"/>
          </a:ln>
        </p:spPr>
      </p:sp>
      <p:sp>
        <p:nvSpPr>
          <p:cNvPr id="14" name="synapse"/>
          <p:cNvSpPr/>
          <p:nvPr/>
        </p:nvSpPr>
        <p:spPr>
          <a:xfrm flipV="1">
            <a:off x="5394960" y="1257300"/>
            <a:ext cx="1005840" cy="1634490"/>
          </a:xfrm>
          <a:prstGeom prst="line">
            <a:avLst/>
          </a:prstGeom>
          <a:noFill/>
          <a:ln w="9525">
            <a:solidFill>
              <a:schemeClr val="accent5"/>
            </a:solidFill>
            <a:prstDash val="solid"/>
          </a:ln>
        </p:spPr>
      </p:sp>
      <p:sp>
        <p:nvSpPr>
          <p:cNvPr id="15" name="synapse"/>
          <p:cNvSpPr/>
          <p:nvPr/>
        </p:nvSpPr>
        <p:spPr>
          <a:xfrm flipV="1">
            <a:off x="5394960" y="1760220"/>
            <a:ext cx="1005840" cy="1131570"/>
          </a:xfrm>
          <a:prstGeom prst="line">
            <a:avLst/>
          </a:prstGeom>
          <a:noFill/>
          <a:ln w="9525">
            <a:solidFill>
              <a:schemeClr val="accent5"/>
            </a:solidFill>
            <a:prstDash val="solid"/>
          </a:ln>
        </p:spPr>
      </p:sp>
      <p:sp>
        <p:nvSpPr>
          <p:cNvPr id="16" name="synapse"/>
          <p:cNvSpPr/>
          <p:nvPr/>
        </p:nvSpPr>
        <p:spPr>
          <a:xfrm flipV="1">
            <a:off x="5394960" y="2263140"/>
            <a:ext cx="1005840" cy="628650"/>
          </a:xfrm>
          <a:prstGeom prst="line">
            <a:avLst/>
          </a:prstGeom>
          <a:noFill/>
          <a:ln w="9525">
            <a:solidFill>
              <a:schemeClr val="accent5"/>
            </a:solidFill>
            <a:prstDash val="solid"/>
          </a:ln>
        </p:spPr>
      </p:sp>
      <p:sp>
        <p:nvSpPr>
          <p:cNvPr id="17" name="synapse"/>
          <p:cNvSpPr/>
          <p:nvPr/>
        </p:nvSpPr>
        <p:spPr>
          <a:xfrm flipV="1">
            <a:off x="5394960" y="2766060"/>
            <a:ext cx="1005840" cy="125730"/>
          </a:xfrm>
          <a:prstGeom prst="line">
            <a:avLst/>
          </a:prstGeom>
          <a:noFill/>
          <a:ln w="9525">
            <a:solidFill>
              <a:schemeClr val="accent5"/>
            </a:solidFill>
            <a:prstDash val="solid"/>
          </a:ln>
        </p:spPr>
      </p:sp>
      <p:sp>
        <p:nvSpPr>
          <p:cNvPr id="18" name="synapse"/>
          <p:cNvSpPr/>
          <p:nvPr/>
        </p:nvSpPr>
        <p:spPr>
          <a:xfrm>
            <a:off x="5394960" y="2891790"/>
            <a:ext cx="1005840" cy="377190"/>
          </a:xfrm>
          <a:prstGeom prst="line">
            <a:avLst/>
          </a:prstGeom>
          <a:noFill/>
          <a:ln w="9525">
            <a:solidFill>
              <a:schemeClr val="accent5"/>
            </a:solidFill>
            <a:prstDash val="solid"/>
          </a:ln>
        </p:spPr>
      </p:sp>
      <p:sp>
        <p:nvSpPr>
          <p:cNvPr id="19" name="synapse"/>
          <p:cNvSpPr/>
          <p:nvPr/>
        </p:nvSpPr>
        <p:spPr>
          <a:xfrm>
            <a:off x="5394960" y="2891790"/>
            <a:ext cx="1005840" cy="880110"/>
          </a:xfrm>
          <a:prstGeom prst="line">
            <a:avLst/>
          </a:prstGeom>
          <a:noFill/>
          <a:ln w="9525">
            <a:solidFill>
              <a:schemeClr val="accent5"/>
            </a:solidFill>
            <a:prstDash val="solid"/>
          </a:ln>
        </p:spPr>
      </p:sp>
      <p:sp>
        <p:nvSpPr>
          <p:cNvPr id="20" name="synapse"/>
          <p:cNvSpPr/>
          <p:nvPr/>
        </p:nvSpPr>
        <p:spPr>
          <a:xfrm flipV="1">
            <a:off x="5394960" y="1257300"/>
            <a:ext cx="1005840" cy="2388870"/>
          </a:xfrm>
          <a:prstGeom prst="line">
            <a:avLst/>
          </a:prstGeom>
          <a:noFill/>
          <a:ln w="9525">
            <a:solidFill>
              <a:schemeClr val="accent5"/>
            </a:solidFill>
            <a:prstDash val="solid"/>
          </a:ln>
        </p:spPr>
      </p:sp>
      <p:sp>
        <p:nvSpPr>
          <p:cNvPr id="21" name="synapse"/>
          <p:cNvSpPr/>
          <p:nvPr/>
        </p:nvSpPr>
        <p:spPr>
          <a:xfrm flipV="1">
            <a:off x="5394960" y="1760220"/>
            <a:ext cx="1005840" cy="1885950"/>
          </a:xfrm>
          <a:prstGeom prst="line">
            <a:avLst/>
          </a:prstGeom>
          <a:noFill/>
          <a:ln w="9525">
            <a:solidFill>
              <a:schemeClr val="accent5"/>
            </a:solidFill>
            <a:prstDash val="solid"/>
          </a:ln>
        </p:spPr>
      </p:sp>
      <p:sp>
        <p:nvSpPr>
          <p:cNvPr id="22" name="synapse"/>
          <p:cNvSpPr/>
          <p:nvPr/>
        </p:nvSpPr>
        <p:spPr>
          <a:xfrm flipV="1">
            <a:off x="5394960" y="2263140"/>
            <a:ext cx="1005840" cy="1383030"/>
          </a:xfrm>
          <a:prstGeom prst="line">
            <a:avLst/>
          </a:prstGeom>
          <a:noFill/>
          <a:ln w="9525">
            <a:solidFill>
              <a:schemeClr val="accent5"/>
            </a:solidFill>
            <a:prstDash val="solid"/>
          </a:ln>
        </p:spPr>
      </p:sp>
      <p:sp>
        <p:nvSpPr>
          <p:cNvPr id="23" name="synapse"/>
          <p:cNvSpPr/>
          <p:nvPr/>
        </p:nvSpPr>
        <p:spPr>
          <a:xfrm flipV="1">
            <a:off x="5394960" y="2766060"/>
            <a:ext cx="1005840" cy="880110"/>
          </a:xfrm>
          <a:prstGeom prst="line">
            <a:avLst/>
          </a:prstGeom>
          <a:noFill/>
          <a:ln w="9525">
            <a:solidFill>
              <a:schemeClr val="accent5"/>
            </a:solidFill>
            <a:prstDash val="solid"/>
          </a:ln>
        </p:spPr>
      </p:sp>
      <p:sp>
        <p:nvSpPr>
          <p:cNvPr id="24" name="synapse"/>
          <p:cNvSpPr/>
          <p:nvPr/>
        </p:nvSpPr>
        <p:spPr>
          <a:xfrm flipV="1">
            <a:off x="5394960" y="3268980"/>
            <a:ext cx="1005840" cy="377190"/>
          </a:xfrm>
          <a:prstGeom prst="line">
            <a:avLst/>
          </a:prstGeom>
          <a:noFill/>
          <a:ln w="9525">
            <a:solidFill>
              <a:schemeClr val="accent5"/>
            </a:solidFill>
            <a:prstDash val="solid"/>
          </a:ln>
        </p:spPr>
      </p:sp>
      <p:sp>
        <p:nvSpPr>
          <p:cNvPr id="25" name="synapse"/>
          <p:cNvSpPr/>
          <p:nvPr/>
        </p:nvSpPr>
        <p:spPr>
          <a:xfrm>
            <a:off x="5394960" y="3646170"/>
            <a:ext cx="1005840" cy="125730"/>
          </a:xfrm>
          <a:prstGeom prst="line">
            <a:avLst/>
          </a:prstGeom>
          <a:noFill/>
          <a:ln w="9525">
            <a:solidFill>
              <a:schemeClr val="accent5"/>
            </a:solidFill>
            <a:prstDash val="solid"/>
          </a:ln>
        </p:spPr>
      </p:sp>
      <p:sp>
        <p:nvSpPr>
          <p:cNvPr id="26" name="synapse"/>
          <p:cNvSpPr/>
          <p:nvPr/>
        </p:nvSpPr>
        <p:spPr>
          <a:xfrm>
            <a:off x="6400800" y="1257300"/>
            <a:ext cx="1005840" cy="0"/>
          </a:xfrm>
          <a:prstGeom prst="line">
            <a:avLst/>
          </a:prstGeom>
          <a:noFill/>
          <a:ln w="9525">
            <a:solidFill>
              <a:schemeClr val="accent5"/>
            </a:solidFill>
            <a:prstDash val="solid"/>
          </a:ln>
        </p:spPr>
      </p:sp>
      <p:sp>
        <p:nvSpPr>
          <p:cNvPr id="27" name="synapse"/>
          <p:cNvSpPr/>
          <p:nvPr/>
        </p:nvSpPr>
        <p:spPr>
          <a:xfrm>
            <a:off x="6400800" y="1257300"/>
            <a:ext cx="1005840" cy="502920"/>
          </a:xfrm>
          <a:prstGeom prst="line">
            <a:avLst/>
          </a:prstGeom>
          <a:noFill/>
          <a:ln w="9525">
            <a:solidFill>
              <a:schemeClr val="accent5"/>
            </a:solidFill>
            <a:prstDash val="solid"/>
          </a:ln>
        </p:spPr>
      </p:sp>
      <p:sp>
        <p:nvSpPr>
          <p:cNvPr id="28" name="synapse"/>
          <p:cNvSpPr/>
          <p:nvPr/>
        </p:nvSpPr>
        <p:spPr>
          <a:xfrm>
            <a:off x="6400800" y="1257300"/>
            <a:ext cx="1005840" cy="1005840"/>
          </a:xfrm>
          <a:prstGeom prst="line">
            <a:avLst/>
          </a:prstGeom>
          <a:noFill/>
          <a:ln w="9525">
            <a:solidFill>
              <a:schemeClr val="accent5"/>
            </a:solidFill>
            <a:prstDash val="solid"/>
          </a:ln>
        </p:spPr>
      </p:sp>
      <p:sp>
        <p:nvSpPr>
          <p:cNvPr id="29" name="synapse"/>
          <p:cNvSpPr/>
          <p:nvPr/>
        </p:nvSpPr>
        <p:spPr>
          <a:xfrm>
            <a:off x="6400800" y="1257300"/>
            <a:ext cx="1005840" cy="1508760"/>
          </a:xfrm>
          <a:prstGeom prst="line">
            <a:avLst/>
          </a:prstGeom>
          <a:noFill/>
          <a:ln w="9525">
            <a:solidFill>
              <a:schemeClr val="accent5"/>
            </a:solidFill>
            <a:prstDash val="solid"/>
          </a:ln>
        </p:spPr>
      </p:sp>
      <p:sp>
        <p:nvSpPr>
          <p:cNvPr id="30" name="synapse"/>
          <p:cNvSpPr/>
          <p:nvPr/>
        </p:nvSpPr>
        <p:spPr>
          <a:xfrm>
            <a:off x="6400800" y="1257300"/>
            <a:ext cx="1005840" cy="2011680"/>
          </a:xfrm>
          <a:prstGeom prst="line">
            <a:avLst/>
          </a:prstGeom>
          <a:noFill/>
          <a:ln w="9525">
            <a:solidFill>
              <a:schemeClr val="accent5"/>
            </a:solidFill>
            <a:prstDash val="solid"/>
          </a:ln>
        </p:spPr>
      </p:sp>
      <p:sp>
        <p:nvSpPr>
          <p:cNvPr id="31" name="synapse"/>
          <p:cNvSpPr/>
          <p:nvPr/>
        </p:nvSpPr>
        <p:spPr>
          <a:xfrm>
            <a:off x="6400800" y="1257300"/>
            <a:ext cx="1005840" cy="2514600"/>
          </a:xfrm>
          <a:prstGeom prst="line">
            <a:avLst/>
          </a:prstGeom>
          <a:noFill/>
          <a:ln w="9525">
            <a:solidFill>
              <a:schemeClr val="accent5"/>
            </a:solidFill>
            <a:prstDash val="solid"/>
          </a:ln>
        </p:spPr>
      </p:sp>
      <p:sp>
        <p:nvSpPr>
          <p:cNvPr id="32" name="synapse"/>
          <p:cNvSpPr/>
          <p:nvPr/>
        </p:nvSpPr>
        <p:spPr>
          <a:xfrm flipV="1">
            <a:off x="6400800" y="1257300"/>
            <a:ext cx="1005840" cy="502920"/>
          </a:xfrm>
          <a:prstGeom prst="line">
            <a:avLst/>
          </a:prstGeom>
          <a:noFill/>
          <a:ln w="9525">
            <a:solidFill>
              <a:schemeClr val="accent5"/>
            </a:solidFill>
            <a:prstDash val="solid"/>
          </a:ln>
        </p:spPr>
      </p:sp>
      <p:sp>
        <p:nvSpPr>
          <p:cNvPr id="33" name="synapse"/>
          <p:cNvSpPr/>
          <p:nvPr/>
        </p:nvSpPr>
        <p:spPr>
          <a:xfrm>
            <a:off x="6400800" y="1760220"/>
            <a:ext cx="1005840" cy="0"/>
          </a:xfrm>
          <a:prstGeom prst="line">
            <a:avLst/>
          </a:prstGeom>
          <a:noFill/>
          <a:ln w="9525">
            <a:solidFill>
              <a:schemeClr val="accent5"/>
            </a:solidFill>
            <a:prstDash val="solid"/>
          </a:ln>
        </p:spPr>
      </p:sp>
      <p:sp>
        <p:nvSpPr>
          <p:cNvPr id="34" name="synapse"/>
          <p:cNvSpPr/>
          <p:nvPr/>
        </p:nvSpPr>
        <p:spPr>
          <a:xfrm>
            <a:off x="6400800" y="1760220"/>
            <a:ext cx="1005840" cy="502920"/>
          </a:xfrm>
          <a:prstGeom prst="line">
            <a:avLst/>
          </a:prstGeom>
          <a:noFill/>
          <a:ln w="9525">
            <a:solidFill>
              <a:schemeClr val="accent5"/>
            </a:solidFill>
            <a:prstDash val="solid"/>
          </a:ln>
        </p:spPr>
      </p:sp>
      <p:sp>
        <p:nvSpPr>
          <p:cNvPr id="35" name="synapse"/>
          <p:cNvSpPr/>
          <p:nvPr/>
        </p:nvSpPr>
        <p:spPr>
          <a:xfrm>
            <a:off x="6400800" y="1760220"/>
            <a:ext cx="1005840" cy="1005840"/>
          </a:xfrm>
          <a:prstGeom prst="line">
            <a:avLst/>
          </a:prstGeom>
          <a:noFill/>
          <a:ln w="9525">
            <a:solidFill>
              <a:schemeClr val="accent5"/>
            </a:solidFill>
            <a:prstDash val="solid"/>
          </a:ln>
        </p:spPr>
      </p:sp>
      <p:sp>
        <p:nvSpPr>
          <p:cNvPr id="36" name="synapse"/>
          <p:cNvSpPr/>
          <p:nvPr/>
        </p:nvSpPr>
        <p:spPr>
          <a:xfrm>
            <a:off x="6400800" y="1760220"/>
            <a:ext cx="1005840" cy="1508760"/>
          </a:xfrm>
          <a:prstGeom prst="line">
            <a:avLst/>
          </a:prstGeom>
          <a:noFill/>
          <a:ln w="9525">
            <a:solidFill>
              <a:schemeClr val="accent5"/>
            </a:solidFill>
            <a:prstDash val="solid"/>
          </a:ln>
        </p:spPr>
      </p:sp>
      <p:sp>
        <p:nvSpPr>
          <p:cNvPr id="37" name="synapse"/>
          <p:cNvSpPr/>
          <p:nvPr/>
        </p:nvSpPr>
        <p:spPr>
          <a:xfrm>
            <a:off x="6400800" y="1760220"/>
            <a:ext cx="1005840" cy="2011680"/>
          </a:xfrm>
          <a:prstGeom prst="line">
            <a:avLst/>
          </a:prstGeom>
          <a:noFill/>
          <a:ln w="9525">
            <a:solidFill>
              <a:schemeClr val="accent5"/>
            </a:solidFill>
            <a:prstDash val="solid"/>
          </a:ln>
        </p:spPr>
      </p:sp>
      <p:sp>
        <p:nvSpPr>
          <p:cNvPr id="38" name="synapse"/>
          <p:cNvSpPr/>
          <p:nvPr/>
        </p:nvSpPr>
        <p:spPr>
          <a:xfrm flipV="1">
            <a:off x="6400800" y="1257300"/>
            <a:ext cx="1005840" cy="1005840"/>
          </a:xfrm>
          <a:prstGeom prst="line">
            <a:avLst/>
          </a:prstGeom>
          <a:noFill/>
          <a:ln w="9525">
            <a:solidFill>
              <a:schemeClr val="accent5"/>
            </a:solidFill>
            <a:prstDash val="solid"/>
          </a:ln>
        </p:spPr>
      </p:sp>
      <p:sp>
        <p:nvSpPr>
          <p:cNvPr id="39" name="synapse"/>
          <p:cNvSpPr/>
          <p:nvPr/>
        </p:nvSpPr>
        <p:spPr>
          <a:xfrm flipV="1">
            <a:off x="6400800" y="1760220"/>
            <a:ext cx="1005840" cy="502920"/>
          </a:xfrm>
          <a:prstGeom prst="line">
            <a:avLst/>
          </a:prstGeom>
          <a:noFill/>
          <a:ln w="9525">
            <a:solidFill>
              <a:schemeClr val="accent5"/>
            </a:solidFill>
            <a:prstDash val="solid"/>
          </a:ln>
        </p:spPr>
      </p:sp>
      <p:sp>
        <p:nvSpPr>
          <p:cNvPr id="40" name="synapse"/>
          <p:cNvSpPr/>
          <p:nvPr/>
        </p:nvSpPr>
        <p:spPr>
          <a:xfrm>
            <a:off x="6400800" y="2263140"/>
            <a:ext cx="1005840" cy="0"/>
          </a:xfrm>
          <a:prstGeom prst="line">
            <a:avLst/>
          </a:prstGeom>
          <a:noFill/>
          <a:ln w="9525">
            <a:solidFill>
              <a:schemeClr val="accent5"/>
            </a:solidFill>
            <a:prstDash val="solid"/>
          </a:ln>
        </p:spPr>
      </p:sp>
      <p:sp>
        <p:nvSpPr>
          <p:cNvPr id="41" name="synapse"/>
          <p:cNvSpPr/>
          <p:nvPr/>
        </p:nvSpPr>
        <p:spPr>
          <a:xfrm>
            <a:off x="6400800" y="2263140"/>
            <a:ext cx="1005840" cy="502920"/>
          </a:xfrm>
          <a:prstGeom prst="line">
            <a:avLst/>
          </a:prstGeom>
          <a:noFill/>
          <a:ln w="9525">
            <a:solidFill>
              <a:schemeClr val="accent5"/>
            </a:solidFill>
            <a:prstDash val="solid"/>
          </a:ln>
        </p:spPr>
      </p:sp>
      <p:sp>
        <p:nvSpPr>
          <p:cNvPr id="42" name="synapse"/>
          <p:cNvSpPr/>
          <p:nvPr/>
        </p:nvSpPr>
        <p:spPr>
          <a:xfrm>
            <a:off x="6400800" y="2263140"/>
            <a:ext cx="1005840" cy="1005840"/>
          </a:xfrm>
          <a:prstGeom prst="line">
            <a:avLst/>
          </a:prstGeom>
          <a:noFill/>
          <a:ln w="9525">
            <a:solidFill>
              <a:schemeClr val="accent5"/>
            </a:solidFill>
            <a:prstDash val="solid"/>
          </a:ln>
        </p:spPr>
      </p:sp>
      <p:sp>
        <p:nvSpPr>
          <p:cNvPr id="43" name="synapse"/>
          <p:cNvSpPr/>
          <p:nvPr/>
        </p:nvSpPr>
        <p:spPr>
          <a:xfrm>
            <a:off x="6400800" y="2263140"/>
            <a:ext cx="1005840" cy="1508760"/>
          </a:xfrm>
          <a:prstGeom prst="line">
            <a:avLst/>
          </a:prstGeom>
          <a:noFill/>
          <a:ln w="9525">
            <a:solidFill>
              <a:schemeClr val="accent5"/>
            </a:solidFill>
            <a:prstDash val="solid"/>
          </a:ln>
        </p:spPr>
      </p:sp>
      <p:sp>
        <p:nvSpPr>
          <p:cNvPr id="44" name="synapse"/>
          <p:cNvSpPr/>
          <p:nvPr/>
        </p:nvSpPr>
        <p:spPr>
          <a:xfrm flipV="1">
            <a:off x="6400800" y="1257300"/>
            <a:ext cx="1005840" cy="1508760"/>
          </a:xfrm>
          <a:prstGeom prst="line">
            <a:avLst/>
          </a:prstGeom>
          <a:noFill/>
          <a:ln w="9525">
            <a:solidFill>
              <a:schemeClr val="accent5"/>
            </a:solidFill>
            <a:prstDash val="solid"/>
          </a:ln>
        </p:spPr>
      </p:sp>
      <p:sp>
        <p:nvSpPr>
          <p:cNvPr id="45" name="synapse"/>
          <p:cNvSpPr/>
          <p:nvPr/>
        </p:nvSpPr>
        <p:spPr>
          <a:xfrm flipV="1">
            <a:off x="6400800" y="1760220"/>
            <a:ext cx="1005840" cy="1005840"/>
          </a:xfrm>
          <a:prstGeom prst="line">
            <a:avLst/>
          </a:prstGeom>
          <a:noFill/>
          <a:ln w="9525">
            <a:solidFill>
              <a:schemeClr val="accent5"/>
            </a:solidFill>
            <a:prstDash val="solid"/>
          </a:ln>
        </p:spPr>
      </p:sp>
      <p:sp>
        <p:nvSpPr>
          <p:cNvPr id="46" name="synapse"/>
          <p:cNvSpPr/>
          <p:nvPr/>
        </p:nvSpPr>
        <p:spPr>
          <a:xfrm flipV="1">
            <a:off x="6400800" y="2263140"/>
            <a:ext cx="1005840" cy="502920"/>
          </a:xfrm>
          <a:prstGeom prst="line">
            <a:avLst/>
          </a:prstGeom>
          <a:noFill/>
          <a:ln w="9525">
            <a:solidFill>
              <a:schemeClr val="accent5"/>
            </a:solidFill>
            <a:prstDash val="solid"/>
          </a:ln>
        </p:spPr>
      </p:sp>
      <p:sp>
        <p:nvSpPr>
          <p:cNvPr id="47" name="synapse"/>
          <p:cNvSpPr/>
          <p:nvPr/>
        </p:nvSpPr>
        <p:spPr>
          <a:xfrm>
            <a:off x="6400800" y="2766060"/>
            <a:ext cx="1005840" cy="0"/>
          </a:xfrm>
          <a:prstGeom prst="line">
            <a:avLst/>
          </a:prstGeom>
          <a:noFill/>
          <a:ln w="9525">
            <a:solidFill>
              <a:schemeClr val="accent5"/>
            </a:solidFill>
            <a:prstDash val="solid"/>
          </a:ln>
        </p:spPr>
      </p:sp>
      <p:sp>
        <p:nvSpPr>
          <p:cNvPr id="48" name="synapse"/>
          <p:cNvSpPr/>
          <p:nvPr/>
        </p:nvSpPr>
        <p:spPr>
          <a:xfrm>
            <a:off x="6400800" y="2766060"/>
            <a:ext cx="1005840" cy="502920"/>
          </a:xfrm>
          <a:prstGeom prst="line">
            <a:avLst/>
          </a:prstGeom>
          <a:noFill/>
          <a:ln w="9525">
            <a:solidFill>
              <a:schemeClr val="accent5"/>
            </a:solidFill>
            <a:prstDash val="solid"/>
          </a:ln>
        </p:spPr>
      </p:sp>
      <p:sp>
        <p:nvSpPr>
          <p:cNvPr id="49" name="synapse"/>
          <p:cNvSpPr/>
          <p:nvPr/>
        </p:nvSpPr>
        <p:spPr>
          <a:xfrm>
            <a:off x="6400800" y="2766060"/>
            <a:ext cx="1005840" cy="1005840"/>
          </a:xfrm>
          <a:prstGeom prst="line">
            <a:avLst/>
          </a:prstGeom>
          <a:noFill/>
          <a:ln w="9525">
            <a:solidFill>
              <a:schemeClr val="accent5"/>
            </a:solidFill>
            <a:prstDash val="solid"/>
          </a:ln>
        </p:spPr>
      </p:sp>
      <p:sp>
        <p:nvSpPr>
          <p:cNvPr id="50" name="synapse"/>
          <p:cNvSpPr/>
          <p:nvPr/>
        </p:nvSpPr>
        <p:spPr>
          <a:xfrm flipV="1">
            <a:off x="6400800" y="1257300"/>
            <a:ext cx="1005840" cy="2011680"/>
          </a:xfrm>
          <a:prstGeom prst="line">
            <a:avLst/>
          </a:prstGeom>
          <a:noFill/>
          <a:ln w="9525">
            <a:solidFill>
              <a:schemeClr val="accent5"/>
            </a:solidFill>
            <a:prstDash val="solid"/>
          </a:ln>
        </p:spPr>
      </p:sp>
      <p:sp>
        <p:nvSpPr>
          <p:cNvPr id="51" name="synapse"/>
          <p:cNvSpPr/>
          <p:nvPr/>
        </p:nvSpPr>
        <p:spPr>
          <a:xfrm flipV="1">
            <a:off x="6400800" y="1760220"/>
            <a:ext cx="1005840" cy="1508760"/>
          </a:xfrm>
          <a:prstGeom prst="line">
            <a:avLst/>
          </a:prstGeom>
          <a:noFill/>
          <a:ln w="9525">
            <a:solidFill>
              <a:schemeClr val="accent5"/>
            </a:solidFill>
            <a:prstDash val="solid"/>
          </a:ln>
        </p:spPr>
      </p:sp>
      <p:sp>
        <p:nvSpPr>
          <p:cNvPr id="52" name="synapse"/>
          <p:cNvSpPr/>
          <p:nvPr/>
        </p:nvSpPr>
        <p:spPr>
          <a:xfrm flipV="1">
            <a:off x="6400800" y="2263140"/>
            <a:ext cx="1005840" cy="1005840"/>
          </a:xfrm>
          <a:prstGeom prst="line">
            <a:avLst/>
          </a:prstGeom>
          <a:noFill/>
          <a:ln w="9525">
            <a:solidFill>
              <a:schemeClr val="accent5"/>
            </a:solidFill>
            <a:prstDash val="solid"/>
          </a:ln>
        </p:spPr>
      </p:sp>
      <p:sp>
        <p:nvSpPr>
          <p:cNvPr id="53" name="synapse"/>
          <p:cNvSpPr/>
          <p:nvPr/>
        </p:nvSpPr>
        <p:spPr>
          <a:xfrm flipV="1">
            <a:off x="6400800" y="2766060"/>
            <a:ext cx="1005840" cy="502920"/>
          </a:xfrm>
          <a:prstGeom prst="line">
            <a:avLst/>
          </a:prstGeom>
          <a:noFill/>
          <a:ln w="9525">
            <a:solidFill>
              <a:schemeClr val="accent5"/>
            </a:solidFill>
            <a:prstDash val="solid"/>
          </a:ln>
        </p:spPr>
      </p:sp>
      <p:sp>
        <p:nvSpPr>
          <p:cNvPr id="54" name="synapse"/>
          <p:cNvSpPr/>
          <p:nvPr/>
        </p:nvSpPr>
        <p:spPr>
          <a:xfrm>
            <a:off x="6400800" y="3268980"/>
            <a:ext cx="1005840" cy="0"/>
          </a:xfrm>
          <a:prstGeom prst="line">
            <a:avLst/>
          </a:prstGeom>
          <a:noFill/>
          <a:ln w="9525">
            <a:solidFill>
              <a:schemeClr val="accent5"/>
            </a:solidFill>
            <a:prstDash val="solid"/>
          </a:ln>
        </p:spPr>
      </p:sp>
      <p:sp>
        <p:nvSpPr>
          <p:cNvPr id="55" name="synapse"/>
          <p:cNvSpPr/>
          <p:nvPr/>
        </p:nvSpPr>
        <p:spPr>
          <a:xfrm>
            <a:off x="6400800" y="3268980"/>
            <a:ext cx="1005840" cy="502920"/>
          </a:xfrm>
          <a:prstGeom prst="line">
            <a:avLst/>
          </a:prstGeom>
          <a:noFill/>
          <a:ln w="9525">
            <a:solidFill>
              <a:schemeClr val="accent5"/>
            </a:solidFill>
            <a:prstDash val="solid"/>
          </a:ln>
        </p:spPr>
      </p:sp>
      <p:sp>
        <p:nvSpPr>
          <p:cNvPr id="56" name="synapse"/>
          <p:cNvSpPr/>
          <p:nvPr/>
        </p:nvSpPr>
        <p:spPr>
          <a:xfrm flipV="1">
            <a:off x="6400800" y="1257300"/>
            <a:ext cx="1005840" cy="2514600"/>
          </a:xfrm>
          <a:prstGeom prst="line">
            <a:avLst/>
          </a:prstGeom>
          <a:noFill/>
          <a:ln w="9525">
            <a:solidFill>
              <a:schemeClr val="accent5"/>
            </a:solidFill>
            <a:prstDash val="solid"/>
          </a:ln>
        </p:spPr>
      </p:sp>
      <p:sp>
        <p:nvSpPr>
          <p:cNvPr id="57" name="synapse"/>
          <p:cNvSpPr/>
          <p:nvPr/>
        </p:nvSpPr>
        <p:spPr>
          <a:xfrm flipV="1">
            <a:off x="6400800" y="1760220"/>
            <a:ext cx="1005840" cy="2011680"/>
          </a:xfrm>
          <a:prstGeom prst="line">
            <a:avLst/>
          </a:prstGeom>
          <a:noFill/>
          <a:ln w="9525">
            <a:solidFill>
              <a:schemeClr val="accent5"/>
            </a:solidFill>
            <a:prstDash val="solid"/>
          </a:ln>
        </p:spPr>
      </p:sp>
      <p:sp>
        <p:nvSpPr>
          <p:cNvPr id="58" name="synapse"/>
          <p:cNvSpPr/>
          <p:nvPr/>
        </p:nvSpPr>
        <p:spPr>
          <a:xfrm flipV="1">
            <a:off x="6400800" y="2263140"/>
            <a:ext cx="1005840" cy="1508760"/>
          </a:xfrm>
          <a:prstGeom prst="line">
            <a:avLst/>
          </a:prstGeom>
          <a:noFill/>
          <a:ln w="9525">
            <a:solidFill>
              <a:schemeClr val="accent5"/>
            </a:solidFill>
            <a:prstDash val="solid"/>
          </a:ln>
        </p:spPr>
      </p:sp>
      <p:sp>
        <p:nvSpPr>
          <p:cNvPr id="59" name="synapse"/>
          <p:cNvSpPr/>
          <p:nvPr/>
        </p:nvSpPr>
        <p:spPr>
          <a:xfrm flipV="1">
            <a:off x="6400800" y="2766060"/>
            <a:ext cx="1005840" cy="1005840"/>
          </a:xfrm>
          <a:prstGeom prst="line">
            <a:avLst/>
          </a:prstGeom>
          <a:noFill/>
          <a:ln w="9525">
            <a:solidFill>
              <a:schemeClr val="accent5"/>
            </a:solidFill>
            <a:prstDash val="solid"/>
          </a:ln>
        </p:spPr>
      </p:sp>
      <p:sp>
        <p:nvSpPr>
          <p:cNvPr id="60" name="synapse"/>
          <p:cNvSpPr/>
          <p:nvPr/>
        </p:nvSpPr>
        <p:spPr>
          <a:xfrm flipV="1">
            <a:off x="6400800" y="3268980"/>
            <a:ext cx="1005840" cy="502920"/>
          </a:xfrm>
          <a:prstGeom prst="line">
            <a:avLst/>
          </a:prstGeom>
          <a:noFill/>
          <a:ln w="9525">
            <a:solidFill>
              <a:schemeClr val="accent5"/>
            </a:solidFill>
            <a:prstDash val="solid"/>
          </a:ln>
        </p:spPr>
      </p:sp>
      <p:sp>
        <p:nvSpPr>
          <p:cNvPr id="61" name="synapse"/>
          <p:cNvSpPr/>
          <p:nvPr/>
        </p:nvSpPr>
        <p:spPr>
          <a:xfrm>
            <a:off x="6400800" y="3771900"/>
            <a:ext cx="1005840" cy="0"/>
          </a:xfrm>
          <a:prstGeom prst="line">
            <a:avLst/>
          </a:prstGeom>
          <a:noFill/>
          <a:ln w="9525">
            <a:solidFill>
              <a:schemeClr val="accent5"/>
            </a:solidFill>
            <a:prstDash val="solid"/>
          </a:ln>
        </p:spPr>
      </p:sp>
      <p:sp>
        <p:nvSpPr>
          <p:cNvPr id="62" name="synapse"/>
          <p:cNvSpPr/>
          <p:nvPr/>
        </p:nvSpPr>
        <p:spPr>
          <a:xfrm>
            <a:off x="7406640" y="1257300"/>
            <a:ext cx="914400" cy="251460"/>
          </a:xfrm>
          <a:prstGeom prst="line">
            <a:avLst/>
          </a:prstGeom>
          <a:noFill/>
          <a:ln w="9525">
            <a:solidFill>
              <a:schemeClr val="accent5"/>
            </a:solidFill>
            <a:prstDash val="solid"/>
          </a:ln>
        </p:spPr>
      </p:sp>
      <p:sp>
        <p:nvSpPr>
          <p:cNvPr id="63" name="synapse"/>
          <p:cNvSpPr/>
          <p:nvPr/>
        </p:nvSpPr>
        <p:spPr>
          <a:xfrm>
            <a:off x="7406640" y="1257300"/>
            <a:ext cx="914400" cy="1257300"/>
          </a:xfrm>
          <a:prstGeom prst="line">
            <a:avLst/>
          </a:prstGeom>
          <a:noFill/>
          <a:ln w="9525">
            <a:solidFill>
              <a:schemeClr val="accent5"/>
            </a:solidFill>
            <a:prstDash val="solid"/>
          </a:ln>
        </p:spPr>
      </p:sp>
      <p:sp>
        <p:nvSpPr>
          <p:cNvPr id="64" name="synapse"/>
          <p:cNvSpPr/>
          <p:nvPr/>
        </p:nvSpPr>
        <p:spPr>
          <a:xfrm>
            <a:off x="7406640" y="1257300"/>
            <a:ext cx="914400" cy="2263140"/>
          </a:xfrm>
          <a:prstGeom prst="line">
            <a:avLst/>
          </a:prstGeom>
          <a:noFill/>
          <a:ln w="9525">
            <a:solidFill>
              <a:schemeClr val="accent5"/>
            </a:solidFill>
            <a:prstDash val="solid"/>
          </a:ln>
        </p:spPr>
      </p:sp>
      <p:sp>
        <p:nvSpPr>
          <p:cNvPr id="65" name="synapse"/>
          <p:cNvSpPr/>
          <p:nvPr/>
        </p:nvSpPr>
        <p:spPr>
          <a:xfrm flipV="1">
            <a:off x="7406640" y="1508760"/>
            <a:ext cx="914400" cy="251460"/>
          </a:xfrm>
          <a:prstGeom prst="line">
            <a:avLst/>
          </a:prstGeom>
          <a:noFill/>
          <a:ln w="9525">
            <a:solidFill>
              <a:schemeClr val="accent5"/>
            </a:solidFill>
            <a:prstDash val="solid"/>
          </a:ln>
        </p:spPr>
      </p:sp>
      <p:sp>
        <p:nvSpPr>
          <p:cNvPr id="66" name="synapse"/>
          <p:cNvSpPr/>
          <p:nvPr/>
        </p:nvSpPr>
        <p:spPr>
          <a:xfrm>
            <a:off x="7406640" y="1760220"/>
            <a:ext cx="914400" cy="754380"/>
          </a:xfrm>
          <a:prstGeom prst="line">
            <a:avLst/>
          </a:prstGeom>
          <a:noFill/>
          <a:ln w="9525">
            <a:solidFill>
              <a:schemeClr val="accent5"/>
            </a:solidFill>
            <a:prstDash val="solid"/>
          </a:ln>
        </p:spPr>
      </p:sp>
      <p:sp>
        <p:nvSpPr>
          <p:cNvPr id="67" name="synapse"/>
          <p:cNvSpPr/>
          <p:nvPr/>
        </p:nvSpPr>
        <p:spPr>
          <a:xfrm>
            <a:off x="7406640" y="1760220"/>
            <a:ext cx="914400" cy="1760220"/>
          </a:xfrm>
          <a:prstGeom prst="line">
            <a:avLst/>
          </a:prstGeom>
          <a:noFill/>
          <a:ln w="9525">
            <a:solidFill>
              <a:schemeClr val="accent5"/>
            </a:solidFill>
            <a:prstDash val="solid"/>
          </a:ln>
        </p:spPr>
      </p:sp>
      <p:sp>
        <p:nvSpPr>
          <p:cNvPr id="68" name="synapse"/>
          <p:cNvSpPr/>
          <p:nvPr/>
        </p:nvSpPr>
        <p:spPr>
          <a:xfrm flipV="1">
            <a:off x="7406640" y="1508760"/>
            <a:ext cx="914400" cy="754380"/>
          </a:xfrm>
          <a:prstGeom prst="line">
            <a:avLst/>
          </a:prstGeom>
          <a:noFill/>
          <a:ln w="9525">
            <a:solidFill>
              <a:schemeClr val="accent5"/>
            </a:solidFill>
            <a:prstDash val="solid"/>
          </a:ln>
        </p:spPr>
      </p:sp>
      <p:sp>
        <p:nvSpPr>
          <p:cNvPr id="69" name="synapse"/>
          <p:cNvSpPr/>
          <p:nvPr/>
        </p:nvSpPr>
        <p:spPr>
          <a:xfrm>
            <a:off x="7406640" y="2263140"/>
            <a:ext cx="914400" cy="251460"/>
          </a:xfrm>
          <a:prstGeom prst="line">
            <a:avLst/>
          </a:prstGeom>
          <a:noFill/>
          <a:ln w="9525">
            <a:solidFill>
              <a:schemeClr val="accent5"/>
            </a:solidFill>
            <a:prstDash val="solid"/>
          </a:ln>
        </p:spPr>
      </p:sp>
      <p:sp>
        <p:nvSpPr>
          <p:cNvPr id="70" name="synapse"/>
          <p:cNvSpPr/>
          <p:nvPr/>
        </p:nvSpPr>
        <p:spPr>
          <a:xfrm>
            <a:off x="7406640" y="2263140"/>
            <a:ext cx="914400" cy="1257300"/>
          </a:xfrm>
          <a:prstGeom prst="line">
            <a:avLst/>
          </a:prstGeom>
          <a:noFill/>
          <a:ln w="9525">
            <a:solidFill>
              <a:schemeClr val="accent5"/>
            </a:solidFill>
            <a:prstDash val="solid"/>
          </a:ln>
        </p:spPr>
      </p:sp>
      <p:sp>
        <p:nvSpPr>
          <p:cNvPr id="71" name="synapse"/>
          <p:cNvSpPr/>
          <p:nvPr/>
        </p:nvSpPr>
        <p:spPr>
          <a:xfrm flipV="1">
            <a:off x="7406640" y="1508760"/>
            <a:ext cx="914400" cy="1257300"/>
          </a:xfrm>
          <a:prstGeom prst="line">
            <a:avLst/>
          </a:prstGeom>
          <a:noFill/>
          <a:ln w="9525">
            <a:solidFill>
              <a:schemeClr val="accent5"/>
            </a:solidFill>
            <a:prstDash val="solid"/>
          </a:ln>
        </p:spPr>
      </p:sp>
      <p:sp>
        <p:nvSpPr>
          <p:cNvPr id="72" name="synapse"/>
          <p:cNvSpPr/>
          <p:nvPr/>
        </p:nvSpPr>
        <p:spPr>
          <a:xfrm flipV="1">
            <a:off x="7406640" y="2514600"/>
            <a:ext cx="914400" cy="251460"/>
          </a:xfrm>
          <a:prstGeom prst="line">
            <a:avLst/>
          </a:prstGeom>
          <a:noFill/>
          <a:ln w="9525">
            <a:solidFill>
              <a:schemeClr val="accent5"/>
            </a:solidFill>
            <a:prstDash val="solid"/>
          </a:ln>
        </p:spPr>
      </p:sp>
      <p:sp>
        <p:nvSpPr>
          <p:cNvPr id="73" name="synapse"/>
          <p:cNvSpPr/>
          <p:nvPr/>
        </p:nvSpPr>
        <p:spPr>
          <a:xfrm>
            <a:off x="7406640" y="2766060"/>
            <a:ext cx="914400" cy="754380"/>
          </a:xfrm>
          <a:prstGeom prst="line">
            <a:avLst/>
          </a:prstGeom>
          <a:noFill/>
          <a:ln w="9525">
            <a:solidFill>
              <a:schemeClr val="accent5"/>
            </a:solidFill>
            <a:prstDash val="solid"/>
          </a:ln>
        </p:spPr>
      </p:sp>
      <p:sp>
        <p:nvSpPr>
          <p:cNvPr id="74" name="synapse"/>
          <p:cNvSpPr/>
          <p:nvPr/>
        </p:nvSpPr>
        <p:spPr>
          <a:xfrm flipV="1">
            <a:off x="7406640" y="1508760"/>
            <a:ext cx="914400" cy="1760220"/>
          </a:xfrm>
          <a:prstGeom prst="line">
            <a:avLst/>
          </a:prstGeom>
          <a:noFill/>
          <a:ln w="9525">
            <a:solidFill>
              <a:schemeClr val="accent5"/>
            </a:solidFill>
            <a:prstDash val="solid"/>
          </a:ln>
        </p:spPr>
      </p:sp>
      <p:sp>
        <p:nvSpPr>
          <p:cNvPr id="75" name="synapse"/>
          <p:cNvSpPr/>
          <p:nvPr/>
        </p:nvSpPr>
        <p:spPr>
          <a:xfrm flipV="1">
            <a:off x="7406640" y="2514600"/>
            <a:ext cx="914400" cy="754380"/>
          </a:xfrm>
          <a:prstGeom prst="line">
            <a:avLst/>
          </a:prstGeom>
          <a:noFill/>
          <a:ln w="9525">
            <a:solidFill>
              <a:schemeClr val="accent5"/>
            </a:solidFill>
            <a:prstDash val="solid"/>
          </a:ln>
        </p:spPr>
      </p:sp>
      <p:sp>
        <p:nvSpPr>
          <p:cNvPr id="76" name="synapse"/>
          <p:cNvSpPr/>
          <p:nvPr/>
        </p:nvSpPr>
        <p:spPr>
          <a:xfrm>
            <a:off x="7406640" y="3268980"/>
            <a:ext cx="914400" cy="251460"/>
          </a:xfrm>
          <a:prstGeom prst="line">
            <a:avLst/>
          </a:prstGeom>
          <a:noFill/>
          <a:ln w="9525">
            <a:solidFill>
              <a:schemeClr val="accent5"/>
            </a:solidFill>
            <a:prstDash val="solid"/>
          </a:ln>
        </p:spPr>
      </p:sp>
      <p:sp>
        <p:nvSpPr>
          <p:cNvPr id="77" name="synapse"/>
          <p:cNvSpPr/>
          <p:nvPr/>
        </p:nvSpPr>
        <p:spPr>
          <a:xfrm flipV="1">
            <a:off x="7406640" y="1508760"/>
            <a:ext cx="914400" cy="2263140"/>
          </a:xfrm>
          <a:prstGeom prst="line">
            <a:avLst/>
          </a:prstGeom>
          <a:noFill/>
          <a:ln w="9525">
            <a:solidFill>
              <a:schemeClr val="accent5"/>
            </a:solidFill>
            <a:prstDash val="solid"/>
          </a:ln>
        </p:spPr>
      </p:sp>
      <p:sp>
        <p:nvSpPr>
          <p:cNvPr id="78" name="synapse"/>
          <p:cNvSpPr/>
          <p:nvPr/>
        </p:nvSpPr>
        <p:spPr>
          <a:xfrm flipV="1">
            <a:off x="7406640" y="2514600"/>
            <a:ext cx="914400" cy="1257300"/>
          </a:xfrm>
          <a:prstGeom prst="line">
            <a:avLst/>
          </a:prstGeom>
          <a:noFill/>
          <a:ln w="9525">
            <a:solidFill>
              <a:schemeClr val="accent5"/>
            </a:solidFill>
            <a:prstDash val="solid"/>
          </a:ln>
        </p:spPr>
      </p:sp>
      <p:sp>
        <p:nvSpPr>
          <p:cNvPr id="79" name="synapse"/>
          <p:cNvSpPr/>
          <p:nvPr/>
        </p:nvSpPr>
        <p:spPr>
          <a:xfrm flipV="1">
            <a:off x="7406640" y="3520440"/>
            <a:ext cx="914400" cy="251460"/>
          </a:xfrm>
          <a:prstGeom prst="line">
            <a:avLst/>
          </a:prstGeom>
          <a:noFill/>
          <a:ln w="9525">
            <a:solidFill>
              <a:schemeClr val="accent5"/>
            </a:solidFill>
            <a:prstDash val="solid"/>
          </a:ln>
        </p:spPr>
      </p:sp>
      <p:sp>
        <p:nvSpPr>
          <p:cNvPr id="80" name="neuron"/>
          <p:cNvSpPr/>
          <p:nvPr/>
        </p:nvSpPr>
        <p:spPr>
          <a:xfrm>
            <a:off x="5276088" y="1264158"/>
            <a:ext cx="237744" cy="237744"/>
          </a:xfrm>
          <a:prstGeom prst="ellipse">
            <a:avLst/>
          </a:prstGeom>
          <a:solidFill>
            <a:schemeClr val="accent1"/>
          </a:solidFill>
          <a:ln w="19050">
            <a:solidFill>
              <a:schemeClr val="accent1"/>
            </a:solidFill>
            <a:prstDash val="solid"/>
          </a:ln>
        </p:spPr>
      </p:sp>
      <p:sp>
        <p:nvSpPr>
          <p:cNvPr id="81" name="neuron"/>
          <p:cNvSpPr/>
          <p:nvPr/>
        </p:nvSpPr>
        <p:spPr>
          <a:xfrm>
            <a:off x="5276088" y="2018538"/>
            <a:ext cx="237744" cy="237744"/>
          </a:xfrm>
          <a:prstGeom prst="ellipse">
            <a:avLst/>
          </a:prstGeom>
          <a:solidFill>
            <a:schemeClr val="bg2"/>
          </a:solidFill>
          <a:ln w="19050">
            <a:solidFill>
              <a:schemeClr val="accent1"/>
            </a:solidFill>
            <a:prstDash val="solid"/>
          </a:ln>
        </p:spPr>
      </p:sp>
      <p:sp>
        <p:nvSpPr>
          <p:cNvPr id="82" name="neuron"/>
          <p:cNvSpPr/>
          <p:nvPr/>
        </p:nvSpPr>
        <p:spPr>
          <a:xfrm>
            <a:off x="5276088" y="2772918"/>
            <a:ext cx="237744" cy="237744"/>
          </a:xfrm>
          <a:prstGeom prst="ellipse">
            <a:avLst/>
          </a:prstGeom>
          <a:solidFill>
            <a:schemeClr val="bg2"/>
          </a:solidFill>
          <a:ln w="19050">
            <a:solidFill>
              <a:schemeClr val="accent1"/>
            </a:solidFill>
            <a:prstDash val="solid"/>
          </a:ln>
        </p:spPr>
      </p:sp>
      <p:sp>
        <p:nvSpPr>
          <p:cNvPr id="83" name="neuron"/>
          <p:cNvSpPr/>
          <p:nvPr/>
        </p:nvSpPr>
        <p:spPr>
          <a:xfrm>
            <a:off x="5276088" y="3527298"/>
            <a:ext cx="237744" cy="237744"/>
          </a:xfrm>
          <a:prstGeom prst="ellipse">
            <a:avLst/>
          </a:prstGeom>
          <a:solidFill>
            <a:schemeClr val="accent1"/>
          </a:solidFill>
          <a:ln w="19050">
            <a:solidFill>
              <a:schemeClr val="accent1"/>
            </a:solidFill>
            <a:prstDash val="solid"/>
          </a:ln>
        </p:spPr>
      </p:sp>
      <p:sp>
        <p:nvSpPr>
          <p:cNvPr id="84" name="neuron"/>
          <p:cNvSpPr/>
          <p:nvPr/>
        </p:nvSpPr>
        <p:spPr>
          <a:xfrm>
            <a:off x="6281928" y="1138428"/>
            <a:ext cx="237744" cy="237744"/>
          </a:xfrm>
          <a:prstGeom prst="ellipse">
            <a:avLst/>
          </a:prstGeom>
          <a:solidFill>
            <a:schemeClr val="bg2"/>
          </a:solidFill>
          <a:ln w="19050">
            <a:solidFill>
              <a:schemeClr val="accent4"/>
            </a:solidFill>
            <a:prstDash val="solid"/>
          </a:ln>
        </p:spPr>
      </p:sp>
      <p:sp>
        <p:nvSpPr>
          <p:cNvPr id="85" name="neuron"/>
          <p:cNvSpPr/>
          <p:nvPr/>
        </p:nvSpPr>
        <p:spPr>
          <a:xfrm>
            <a:off x="6281928" y="1641348"/>
            <a:ext cx="237744" cy="237744"/>
          </a:xfrm>
          <a:prstGeom prst="ellipse">
            <a:avLst/>
          </a:prstGeom>
          <a:solidFill>
            <a:schemeClr val="bg2"/>
          </a:solidFill>
          <a:ln w="19050">
            <a:solidFill>
              <a:schemeClr val="accent4"/>
            </a:solidFill>
            <a:prstDash val="solid"/>
          </a:ln>
        </p:spPr>
      </p:sp>
      <p:sp>
        <p:nvSpPr>
          <p:cNvPr id="86" name="neuron"/>
          <p:cNvSpPr/>
          <p:nvPr/>
        </p:nvSpPr>
        <p:spPr>
          <a:xfrm>
            <a:off x="6281928" y="2144268"/>
            <a:ext cx="237744" cy="237744"/>
          </a:xfrm>
          <a:prstGeom prst="ellipse">
            <a:avLst/>
          </a:prstGeom>
          <a:solidFill>
            <a:schemeClr val="accent4"/>
          </a:solidFill>
          <a:ln w="19050">
            <a:solidFill>
              <a:schemeClr val="accent4"/>
            </a:solidFill>
            <a:prstDash val="solid"/>
          </a:ln>
        </p:spPr>
      </p:sp>
      <p:sp>
        <p:nvSpPr>
          <p:cNvPr id="87" name="neuron"/>
          <p:cNvSpPr/>
          <p:nvPr/>
        </p:nvSpPr>
        <p:spPr>
          <a:xfrm>
            <a:off x="6281928" y="2647188"/>
            <a:ext cx="237744" cy="237744"/>
          </a:xfrm>
          <a:prstGeom prst="ellipse">
            <a:avLst/>
          </a:prstGeom>
          <a:solidFill>
            <a:schemeClr val="bg2"/>
          </a:solidFill>
          <a:ln w="19050">
            <a:solidFill>
              <a:schemeClr val="accent4"/>
            </a:solidFill>
            <a:prstDash val="solid"/>
          </a:ln>
        </p:spPr>
      </p:sp>
      <p:sp>
        <p:nvSpPr>
          <p:cNvPr id="88" name="neuron"/>
          <p:cNvSpPr/>
          <p:nvPr/>
        </p:nvSpPr>
        <p:spPr>
          <a:xfrm>
            <a:off x="6281928" y="3150108"/>
            <a:ext cx="237744" cy="237744"/>
          </a:xfrm>
          <a:prstGeom prst="ellipse">
            <a:avLst/>
          </a:prstGeom>
          <a:solidFill>
            <a:schemeClr val="bg2"/>
          </a:solidFill>
          <a:ln w="19050">
            <a:solidFill>
              <a:schemeClr val="accent4"/>
            </a:solidFill>
            <a:prstDash val="solid"/>
          </a:ln>
        </p:spPr>
      </p:sp>
      <p:sp>
        <p:nvSpPr>
          <p:cNvPr id="89" name="neuron"/>
          <p:cNvSpPr/>
          <p:nvPr/>
        </p:nvSpPr>
        <p:spPr>
          <a:xfrm>
            <a:off x="6281928" y="3653028"/>
            <a:ext cx="237744" cy="237744"/>
          </a:xfrm>
          <a:prstGeom prst="ellipse">
            <a:avLst/>
          </a:prstGeom>
          <a:solidFill>
            <a:schemeClr val="accent4"/>
          </a:solidFill>
          <a:ln w="19050">
            <a:solidFill>
              <a:schemeClr val="accent4"/>
            </a:solidFill>
            <a:prstDash val="solid"/>
          </a:ln>
        </p:spPr>
      </p:sp>
      <p:sp>
        <p:nvSpPr>
          <p:cNvPr id="90" name="neuron"/>
          <p:cNvSpPr/>
          <p:nvPr/>
        </p:nvSpPr>
        <p:spPr>
          <a:xfrm>
            <a:off x="7287768" y="1138428"/>
            <a:ext cx="237744" cy="237744"/>
          </a:xfrm>
          <a:prstGeom prst="ellipse">
            <a:avLst/>
          </a:prstGeom>
          <a:solidFill>
            <a:schemeClr val="bg2"/>
          </a:solidFill>
          <a:ln w="19050">
            <a:solidFill>
              <a:schemeClr val="accent4"/>
            </a:solidFill>
            <a:prstDash val="solid"/>
          </a:ln>
        </p:spPr>
      </p:sp>
      <p:sp>
        <p:nvSpPr>
          <p:cNvPr id="91" name="neuron"/>
          <p:cNvSpPr/>
          <p:nvPr/>
        </p:nvSpPr>
        <p:spPr>
          <a:xfrm>
            <a:off x="7287768" y="1641348"/>
            <a:ext cx="237744" cy="237744"/>
          </a:xfrm>
          <a:prstGeom prst="ellipse">
            <a:avLst/>
          </a:prstGeom>
          <a:solidFill>
            <a:schemeClr val="accent4"/>
          </a:solidFill>
          <a:ln w="19050">
            <a:solidFill>
              <a:schemeClr val="accent4"/>
            </a:solidFill>
            <a:prstDash val="solid"/>
          </a:ln>
        </p:spPr>
      </p:sp>
      <p:sp>
        <p:nvSpPr>
          <p:cNvPr id="92" name="neuron"/>
          <p:cNvSpPr/>
          <p:nvPr/>
        </p:nvSpPr>
        <p:spPr>
          <a:xfrm>
            <a:off x="7287768" y="2144268"/>
            <a:ext cx="237744" cy="237744"/>
          </a:xfrm>
          <a:prstGeom prst="ellipse">
            <a:avLst/>
          </a:prstGeom>
          <a:solidFill>
            <a:schemeClr val="bg2"/>
          </a:solidFill>
          <a:ln w="19050">
            <a:solidFill>
              <a:schemeClr val="accent4"/>
            </a:solidFill>
            <a:prstDash val="solid"/>
          </a:ln>
        </p:spPr>
      </p:sp>
      <p:sp>
        <p:nvSpPr>
          <p:cNvPr id="93" name="neuron"/>
          <p:cNvSpPr/>
          <p:nvPr/>
        </p:nvSpPr>
        <p:spPr>
          <a:xfrm>
            <a:off x="7287768" y="2647188"/>
            <a:ext cx="237744" cy="237744"/>
          </a:xfrm>
          <a:prstGeom prst="ellipse">
            <a:avLst/>
          </a:prstGeom>
          <a:solidFill>
            <a:schemeClr val="bg2"/>
          </a:solidFill>
          <a:ln w="19050">
            <a:solidFill>
              <a:schemeClr val="accent4"/>
            </a:solidFill>
            <a:prstDash val="solid"/>
          </a:ln>
        </p:spPr>
      </p:sp>
      <p:sp>
        <p:nvSpPr>
          <p:cNvPr id="94" name="neuron"/>
          <p:cNvSpPr/>
          <p:nvPr/>
        </p:nvSpPr>
        <p:spPr>
          <a:xfrm>
            <a:off x="7287768" y="3150108"/>
            <a:ext cx="237744" cy="237744"/>
          </a:xfrm>
          <a:prstGeom prst="ellipse">
            <a:avLst/>
          </a:prstGeom>
          <a:solidFill>
            <a:schemeClr val="accent4"/>
          </a:solidFill>
          <a:ln w="19050">
            <a:solidFill>
              <a:schemeClr val="accent4"/>
            </a:solidFill>
            <a:prstDash val="solid"/>
          </a:ln>
        </p:spPr>
      </p:sp>
      <p:sp>
        <p:nvSpPr>
          <p:cNvPr id="95" name="neuron"/>
          <p:cNvSpPr/>
          <p:nvPr/>
        </p:nvSpPr>
        <p:spPr>
          <a:xfrm>
            <a:off x="7287768" y="3653028"/>
            <a:ext cx="237744" cy="237744"/>
          </a:xfrm>
          <a:prstGeom prst="ellipse">
            <a:avLst/>
          </a:prstGeom>
          <a:solidFill>
            <a:schemeClr val="bg2"/>
          </a:solidFill>
          <a:ln w="19050">
            <a:solidFill>
              <a:schemeClr val="accent4"/>
            </a:solidFill>
            <a:prstDash val="solid"/>
          </a:ln>
        </p:spPr>
      </p:sp>
      <p:sp>
        <p:nvSpPr>
          <p:cNvPr id="96" name="neuron"/>
          <p:cNvSpPr/>
          <p:nvPr/>
        </p:nvSpPr>
        <p:spPr>
          <a:xfrm>
            <a:off x="8202168" y="1389888"/>
            <a:ext cx="237744" cy="237744"/>
          </a:xfrm>
          <a:prstGeom prst="ellipse">
            <a:avLst/>
          </a:prstGeom>
          <a:solidFill>
            <a:schemeClr val="accent2"/>
          </a:solidFill>
          <a:ln w="19050">
            <a:solidFill>
              <a:schemeClr val="accent2"/>
            </a:solidFill>
            <a:prstDash val="solid"/>
          </a:ln>
        </p:spPr>
      </p:sp>
      <p:sp>
        <p:nvSpPr>
          <p:cNvPr id="97" name="neuron"/>
          <p:cNvSpPr/>
          <p:nvPr/>
        </p:nvSpPr>
        <p:spPr>
          <a:xfrm>
            <a:off x="8202168" y="2395728"/>
            <a:ext cx="237744" cy="237744"/>
          </a:xfrm>
          <a:prstGeom prst="ellipse">
            <a:avLst/>
          </a:prstGeom>
          <a:solidFill>
            <a:schemeClr val="bg2"/>
          </a:solidFill>
          <a:ln w="19050">
            <a:solidFill>
              <a:schemeClr val="accent2"/>
            </a:solidFill>
            <a:prstDash val="solid"/>
          </a:ln>
        </p:spPr>
      </p:sp>
      <p:sp>
        <p:nvSpPr>
          <p:cNvPr id="98" name="neuron"/>
          <p:cNvSpPr/>
          <p:nvPr/>
        </p:nvSpPr>
        <p:spPr>
          <a:xfrm>
            <a:off x="8202168" y="3401568"/>
            <a:ext cx="237744" cy="237744"/>
          </a:xfrm>
          <a:prstGeom prst="ellipse">
            <a:avLst/>
          </a:prstGeom>
          <a:solidFill>
            <a:schemeClr val="bg2"/>
          </a:solidFill>
          <a:ln w="19050">
            <a:solidFill>
              <a:schemeClr val="accent2"/>
            </a:solidFill>
            <a:prstDash val="solid"/>
          </a:ln>
        </p:spPr>
      </p:sp>
      <p:sp>
        <p:nvSpPr>
          <p:cNvPr id="99" name="Text 97"/>
          <p:cNvSpPr txBox="1"/>
          <p:nvPr/>
        </p:nvSpPr>
        <p:spPr>
          <a:xfrm>
            <a:off x="548640" y="640080"/>
            <a:ext cx="45720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AI + CYBERSECURITY  |  OCT 2026</a:t>
            </a:r>
            <a:endParaRPr lang="en-US" sz="1100" dirty="0"/>
          </a:p>
        </p:txBody>
      </p:sp>
      <p:sp>
        <p:nvSpPr>
          <p:cNvPr id="100" name="Text 98"/>
          <p:cNvSpPr txBox="1"/>
          <p:nvPr/>
        </p:nvSpPr>
        <p:spPr>
          <a:xfrm>
            <a:off x="548640" y="1051560"/>
            <a:ext cx="4663440" cy="914400"/>
          </a:xfrm>
          <a:prstGeom prst="rect">
            <a:avLst/>
          </a:prstGeom>
          <a:noFill/>
          <a:ln/>
        </p:spPr>
        <p:txBody>
          <a:bodyPr wrap="square" lIns="0" tIns="0" rIns="0" bIns="0" rtlCol="0" anchor="t"/>
          <a:lstStyle/>
          <a:p>
            <a:pPr indent="0" marL="0">
              <a:buNone/>
            </a:pPr>
            <a:r>
              <a:rPr lang="en-US" sz="5600" b="1" dirty="0">
                <a:solidFill>
                  <a:schemeClr val="accent1"/>
                </a:solidFill>
                <a:latin typeface="Arial" pitchFamily="34" charset="0"/>
                <a:ea typeface="Arial" pitchFamily="34" charset="-122"/>
                <a:cs typeface="Arial" pitchFamily="34" charset="-120"/>
              </a:rPr>
              <a:t>AEGISNET</a:t>
            </a:r>
            <a:endParaRPr lang="en-US" sz="5600" dirty="0"/>
          </a:p>
        </p:txBody>
      </p:sp>
      <p:sp>
        <p:nvSpPr>
          <p:cNvPr id="101" name="Text 99"/>
          <p:cNvSpPr txBox="1"/>
          <p:nvPr/>
        </p:nvSpPr>
        <p:spPr>
          <a:xfrm>
            <a:off x="548640" y="2103120"/>
            <a:ext cx="4480560" cy="1188720"/>
          </a:xfrm>
          <a:prstGeom prst="rect">
            <a:avLst/>
          </a:prstGeom>
          <a:noFill/>
          <a:ln/>
        </p:spPr>
        <p:txBody>
          <a:bodyPr wrap="square" lIns="0" tIns="0" rIns="0" bIns="0" rtlCol="0" anchor="t"/>
          <a:lstStyle/>
          <a:p>
            <a:pPr indent="0" marL="0">
              <a:buNone/>
            </a:pPr>
            <a:r>
              <a:rPr lang="en-US" sz="1900" dirty="0">
                <a:solidFill>
                  <a:schemeClr val="tx1"/>
                </a:solidFill>
              </a:rPr>
              <a:t>A self-explaining Edge-AI neural network that catches cyber-attacks, even ones it has never seen.</a:t>
            </a:r>
            <a:endParaRPr lang="en-US" sz="1900" dirty="0"/>
          </a:p>
        </p:txBody>
      </p:sp>
      <p:sp>
        <p:nvSpPr>
          <p:cNvPr id="102" name="Text 100"/>
          <p:cNvSpPr txBox="1"/>
          <p:nvPr/>
        </p:nvSpPr>
        <p:spPr>
          <a:xfrm>
            <a:off x="548640" y="3520440"/>
            <a:ext cx="4480560" cy="502920"/>
          </a:xfrm>
          <a:prstGeom prst="rect">
            <a:avLst/>
          </a:prstGeom>
          <a:noFill/>
          <a:ln/>
        </p:spPr>
        <p:txBody>
          <a:bodyPr wrap="square" lIns="0" tIns="0" rIns="0" bIns="0" rtlCol="0" anchor="t"/>
          <a:lstStyle/>
          <a:p>
            <a:pPr indent="0" marL="0">
              <a:buNone/>
            </a:pPr>
            <a:r>
              <a:rPr lang="en-US" sz="1200" dirty="0">
                <a:solidFill>
                  <a:schemeClr val="tx2"/>
                </a:solidFill>
              </a:rPr>
              <a:t>Built from scratch in NumPy  |  34 KB  |  12/12 tests passed  |  100% free tools</a:t>
            </a:r>
            <a:endParaRPr lang="en-US" sz="1200" dirty="0"/>
          </a:p>
        </p:txBody>
      </p:sp>
      <p:sp>
        <p:nvSpPr>
          <p:cNvPr id="103" name="Text 101"/>
          <p:cNvSpPr txBox="1"/>
          <p:nvPr/>
        </p:nvSpPr>
        <p:spPr>
          <a:xfrm>
            <a:off x="548640" y="4343400"/>
            <a:ext cx="4480560" cy="274320"/>
          </a:xfrm>
          <a:prstGeom prst="rect">
            <a:avLst/>
          </a:prstGeom>
          <a:noFill/>
          <a:ln/>
        </p:spPr>
        <p:txBody>
          <a:bodyPr wrap="square" lIns="0" tIns="0" rIns="0" bIns="0" rtlCol="0" anchor="t"/>
          <a:lstStyle/>
          <a:p>
            <a:pPr indent="0" marL="0">
              <a:buNone/>
            </a:pPr>
            <a:r>
              <a:rPr lang="en-US" sz="1200" dirty="0">
                <a:solidFill>
                  <a:schemeClr val="tx2"/>
                </a:solidFill>
              </a:rPr>
              <a:t>Presented by: Rushi   |   Analyst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Oct 2026: models race, production lags</a:t>
            </a:r>
            <a:endParaRPr lang="en-US" sz="3200" dirty="0"/>
          </a:p>
        </p:txBody>
      </p:sp>
      <p:sp>
        <p:nvSpPr>
          <p:cNvPr id="3" name="stat card"/>
          <p:cNvSpPr/>
          <p:nvPr/>
        </p:nvSpPr>
        <p:spPr>
          <a:xfrm>
            <a:off x="457200" y="1143000"/>
            <a:ext cx="1874520" cy="1691640"/>
          </a:xfrm>
          <a:prstGeom prst="roundRect">
            <a:avLst>
              <a:gd name="adj" fmla="val 6486"/>
            </a:avLst>
          </a:prstGeom>
          <a:solidFill>
            <a:schemeClr val="bg2"/>
          </a:solidFill>
          <a:ln w="9525">
            <a:solidFill>
              <a:schemeClr val="accent5"/>
            </a:solidFill>
            <a:prstDash val="solid"/>
          </a:ln>
        </p:spPr>
      </p:sp>
      <p:sp>
        <p:nvSpPr>
          <p:cNvPr id="4" name="Text 2"/>
          <p:cNvSpPr txBox="1"/>
          <p:nvPr/>
        </p:nvSpPr>
        <p:spPr>
          <a:xfrm>
            <a:off x="594360" y="1261872"/>
            <a:ext cx="164592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40%</a:t>
            </a:r>
            <a:endParaRPr lang="en-US" sz="3200" dirty="0"/>
          </a:p>
        </p:txBody>
      </p:sp>
      <p:sp>
        <p:nvSpPr>
          <p:cNvPr id="5" name="Text 3"/>
          <p:cNvSpPr txBox="1"/>
          <p:nvPr/>
        </p:nvSpPr>
        <p:spPr>
          <a:xfrm>
            <a:off x="594360" y="1847088"/>
            <a:ext cx="1627632" cy="914400"/>
          </a:xfrm>
          <a:prstGeom prst="rect">
            <a:avLst/>
          </a:prstGeom>
          <a:noFill/>
          <a:ln/>
        </p:spPr>
        <p:txBody>
          <a:bodyPr wrap="square" lIns="0" tIns="0" rIns="0" bIns="0" rtlCol="0" anchor="t"/>
          <a:lstStyle/>
          <a:p>
            <a:pPr indent="0" marL="0">
              <a:buNone/>
            </a:pPr>
            <a:r>
              <a:rPr lang="en-US" sz="1200" dirty="0">
                <a:solidFill>
                  <a:schemeClr val="tx1"/>
                </a:solidFill>
              </a:rPr>
              <a:t>of enterprise apps will embed task-specific AI agents by end-2026 (Gartner)</a:t>
            </a:r>
            <a:endParaRPr lang="en-US" sz="1200" dirty="0"/>
          </a:p>
        </p:txBody>
      </p:sp>
      <p:sp>
        <p:nvSpPr>
          <p:cNvPr id="6" name="stat card"/>
          <p:cNvSpPr/>
          <p:nvPr/>
        </p:nvSpPr>
        <p:spPr>
          <a:xfrm>
            <a:off x="2578608" y="1143000"/>
            <a:ext cx="1874520" cy="1691640"/>
          </a:xfrm>
          <a:prstGeom prst="roundRect">
            <a:avLst>
              <a:gd name="adj" fmla="val 6486"/>
            </a:avLst>
          </a:prstGeom>
          <a:solidFill>
            <a:schemeClr val="bg2"/>
          </a:solidFill>
          <a:ln w="9525">
            <a:solidFill>
              <a:schemeClr val="accent5"/>
            </a:solidFill>
            <a:prstDash val="solid"/>
          </a:ln>
        </p:spPr>
      </p:sp>
      <p:sp>
        <p:nvSpPr>
          <p:cNvPr id="7" name="Text 5"/>
          <p:cNvSpPr txBox="1"/>
          <p:nvPr/>
        </p:nvSpPr>
        <p:spPr>
          <a:xfrm>
            <a:off x="2715768" y="1261872"/>
            <a:ext cx="164592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11%</a:t>
            </a:r>
            <a:endParaRPr lang="en-US" sz="3200" dirty="0"/>
          </a:p>
        </p:txBody>
      </p:sp>
      <p:sp>
        <p:nvSpPr>
          <p:cNvPr id="8" name="Text 6"/>
          <p:cNvSpPr txBox="1"/>
          <p:nvPr/>
        </p:nvSpPr>
        <p:spPr>
          <a:xfrm>
            <a:off x="2715768" y="1847088"/>
            <a:ext cx="1627632" cy="914400"/>
          </a:xfrm>
          <a:prstGeom prst="rect">
            <a:avLst/>
          </a:prstGeom>
          <a:noFill/>
          <a:ln/>
        </p:spPr>
        <p:txBody>
          <a:bodyPr wrap="square" lIns="0" tIns="0" rIns="0" bIns="0" rtlCol="0" anchor="t"/>
          <a:lstStyle/>
          <a:p>
            <a:pPr indent="0" marL="0">
              <a:buNone/>
            </a:pPr>
            <a:r>
              <a:rPr lang="en-US" sz="1200" dirty="0">
                <a:solidFill>
                  <a:schemeClr val="tx1"/>
                </a:solidFill>
              </a:rPr>
              <a:t>of firms run AI agents in production, although 79% say they have adopted them</a:t>
            </a:r>
            <a:endParaRPr lang="en-US" sz="1200" dirty="0"/>
          </a:p>
        </p:txBody>
      </p:sp>
      <p:sp>
        <p:nvSpPr>
          <p:cNvPr id="9" name="stat card"/>
          <p:cNvSpPr/>
          <p:nvPr/>
        </p:nvSpPr>
        <p:spPr>
          <a:xfrm>
            <a:off x="4700016" y="1143000"/>
            <a:ext cx="1874520" cy="1691640"/>
          </a:xfrm>
          <a:prstGeom prst="roundRect">
            <a:avLst>
              <a:gd name="adj" fmla="val 6486"/>
            </a:avLst>
          </a:prstGeom>
          <a:solidFill>
            <a:schemeClr val="bg2"/>
          </a:solidFill>
          <a:ln w="9525">
            <a:solidFill>
              <a:schemeClr val="accent5"/>
            </a:solidFill>
            <a:prstDash val="solid"/>
          </a:ln>
        </p:spPr>
      </p:sp>
      <p:sp>
        <p:nvSpPr>
          <p:cNvPr id="10" name="Text 8"/>
          <p:cNvSpPr txBox="1"/>
          <p:nvPr/>
        </p:nvSpPr>
        <p:spPr>
          <a:xfrm>
            <a:off x="4837176" y="1261872"/>
            <a:ext cx="164592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~9 in 10</a:t>
            </a:r>
            <a:endParaRPr lang="en-US" sz="3200" dirty="0"/>
          </a:p>
        </p:txBody>
      </p:sp>
      <p:sp>
        <p:nvSpPr>
          <p:cNvPr id="11" name="Text 9"/>
          <p:cNvSpPr txBox="1"/>
          <p:nvPr/>
        </p:nvSpPr>
        <p:spPr>
          <a:xfrm>
            <a:off x="4837176" y="1847088"/>
            <a:ext cx="1627632" cy="914400"/>
          </a:xfrm>
          <a:prstGeom prst="rect">
            <a:avLst/>
          </a:prstGeom>
          <a:noFill/>
          <a:ln/>
        </p:spPr>
        <p:txBody>
          <a:bodyPr wrap="square" lIns="0" tIns="0" rIns="0" bIns="0" rtlCol="0" anchor="t"/>
          <a:lstStyle/>
          <a:p>
            <a:pPr indent="0" marL="0">
              <a:buNone/>
            </a:pPr>
            <a:r>
              <a:rPr lang="en-US" sz="1200" dirty="0">
                <a:solidFill>
                  <a:schemeClr val="tx1"/>
                </a:solidFill>
              </a:rPr>
              <a:t>organisations now use AI regularly in at least one function (McKinsey 2026)</a:t>
            </a:r>
            <a:endParaRPr lang="en-US" sz="1200" dirty="0"/>
          </a:p>
        </p:txBody>
      </p:sp>
      <p:sp>
        <p:nvSpPr>
          <p:cNvPr id="12" name="stat card"/>
          <p:cNvSpPr/>
          <p:nvPr/>
        </p:nvSpPr>
        <p:spPr>
          <a:xfrm>
            <a:off x="6821424" y="1143000"/>
            <a:ext cx="1874520" cy="1691640"/>
          </a:xfrm>
          <a:prstGeom prst="roundRect">
            <a:avLst>
              <a:gd name="adj" fmla="val 6486"/>
            </a:avLst>
          </a:prstGeom>
          <a:solidFill>
            <a:schemeClr val="bg2"/>
          </a:solidFill>
          <a:ln w="9525">
            <a:solidFill>
              <a:schemeClr val="accent5"/>
            </a:solidFill>
            <a:prstDash val="solid"/>
          </a:ln>
        </p:spPr>
      </p:sp>
      <p:sp>
        <p:nvSpPr>
          <p:cNvPr id="13" name="Text 11"/>
          <p:cNvSpPr txBox="1"/>
          <p:nvPr/>
        </p:nvSpPr>
        <p:spPr>
          <a:xfrm>
            <a:off x="6958584" y="1261872"/>
            <a:ext cx="1645920" cy="548640"/>
          </a:xfrm>
          <a:prstGeom prst="rect">
            <a:avLst/>
          </a:prstGeom>
          <a:noFill/>
          <a:ln/>
        </p:spPr>
        <p:txBody>
          <a:bodyPr wrap="square" lIns="0" tIns="0" rIns="0" bIns="0" rtlCol="0" anchor="t"/>
          <a:lstStyle/>
          <a:p>
            <a:pPr indent="0" marL="0">
              <a:buNone/>
            </a:pPr>
            <a:r>
              <a:rPr lang="en-US" sz="3200" b="1" dirty="0">
                <a:solidFill>
                  <a:schemeClr val="accent1"/>
                </a:solidFill>
                <a:latin typeface="Arial" pitchFamily="34" charset="0"/>
                <a:ea typeface="Arial" pitchFamily="34" charset="-122"/>
                <a:cs typeface="Arial" pitchFamily="34" charset="-120"/>
              </a:rPr>
              <a:t>3x</a:t>
            </a:r>
            <a:endParaRPr lang="en-US" sz="3200" dirty="0"/>
          </a:p>
        </p:txBody>
      </p:sp>
      <p:sp>
        <p:nvSpPr>
          <p:cNvPr id="14" name="Text 12"/>
          <p:cNvSpPr txBox="1"/>
          <p:nvPr/>
        </p:nvSpPr>
        <p:spPr>
          <a:xfrm>
            <a:off x="6958584" y="1847088"/>
            <a:ext cx="1627632" cy="914400"/>
          </a:xfrm>
          <a:prstGeom prst="rect">
            <a:avLst/>
          </a:prstGeom>
          <a:noFill/>
          <a:ln/>
        </p:spPr>
        <p:txBody>
          <a:bodyPr wrap="square" lIns="0" tIns="0" rIns="0" bIns="0" rtlCol="0" anchor="t"/>
          <a:lstStyle/>
          <a:p>
            <a:pPr indent="0" marL="0">
              <a:buNone/>
            </a:pPr>
            <a:r>
              <a:rPr lang="en-US" sz="1200" dirty="0">
                <a:solidFill>
                  <a:schemeClr val="tx1"/>
                </a:solidFill>
              </a:rPr>
              <a:t>more usage of small task-specific models than giant LLMs by 2027 (Gartner)</a:t>
            </a:r>
            <a:endParaRPr lang="en-US" sz="1200" dirty="0"/>
          </a:p>
        </p:txBody>
      </p:sp>
      <p:sp>
        <p:nvSpPr>
          <p:cNvPr id="15" name="Text 13"/>
          <p:cNvSpPr txBox="1"/>
          <p:nvPr/>
        </p:nvSpPr>
        <p:spPr>
          <a:xfrm>
            <a:off x="457200" y="3017520"/>
            <a:ext cx="4572000" cy="228600"/>
          </a:xfrm>
          <a:prstGeom prst="rect">
            <a:avLst/>
          </a:prstGeom>
          <a:noFill/>
          <a:ln/>
        </p:spPr>
        <p:txBody>
          <a:bodyPr wrap="square" lIns="0" tIns="0" rIns="0" bIns="0" rtlCol="0" anchor="t"/>
          <a:lstStyle/>
          <a:p>
            <a:pPr indent="0" marL="0">
              <a:buNone/>
            </a:pPr>
            <a:r>
              <a:rPr lang="en-US" sz="1100" b="1" spc="100" kern="0" dirty="0">
                <a:solidFill>
                  <a:schemeClr val="tx2"/>
                </a:solidFill>
              </a:rPr>
              <a:t>THE MODEL RACE (early Oct 2026)</a:t>
            </a:r>
            <a:endParaRPr lang="en-US" sz="1100" dirty="0"/>
          </a:p>
        </p:txBody>
      </p:sp>
      <p:sp>
        <p:nvSpPr>
          <p:cNvPr id="16" name="model pill"/>
          <p:cNvSpPr/>
          <p:nvPr/>
        </p:nvSpPr>
        <p:spPr>
          <a:xfrm>
            <a:off x="457200" y="3310128"/>
            <a:ext cx="1280160" cy="347472"/>
          </a:xfrm>
          <a:prstGeom prst="roundRect">
            <a:avLst>
              <a:gd name="adj" fmla="val 50000"/>
            </a:avLst>
          </a:prstGeom>
          <a:solidFill>
            <a:schemeClr val="bg2"/>
          </a:solidFill>
          <a:ln w="15875">
            <a:solidFill>
              <a:schemeClr val="accent4"/>
            </a:solidFill>
            <a:prstDash val="solid"/>
          </a:ln>
        </p:spPr>
      </p:sp>
      <p:sp>
        <p:nvSpPr>
          <p:cNvPr id="17" name="Text 15"/>
          <p:cNvSpPr txBox="1"/>
          <p:nvPr/>
        </p:nvSpPr>
        <p:spPr>
          <a:xfrm>
            <a:off x="457200" y="3310128"/>
            <a:ext cx="1280160" cy="347472"/>
          </a:xfrm>
          <a:prstGeom prst="rect">
            <a:avLst/>
          </a:prstGeom>
          <a:noFill/>
          <a:ln/>
        </p:spPr>
        <p:txBody>
          <a:bodyPr wrap="square" lIns="0" tIns="0" rIns="0" bIns="0" rtlCol="0" anchor="ctr"/>
          <a:lstStyle/>
          <a:p>
            <a:pPr algn="ctr" indent="0" marL="0">
              <a:buNone/>
            </a:pPr>
            <a:r>
              <a:rPr lang="en-US" sz="1200" b="1" dirty="0">
                <a:solidFill>
                  <a:schemeClr val="tx1"/>
                </a:solidFill>
              </a:rPr>
              <a:t>Claude Opus 5.5</a:t>
            </a:r>
            <a:endParaRPr lang="en-US" sz="1200" dirty="0"/>
          </a:p>
        </p:txBody>
      </p:sp>
      <p:sp>
        <p:nvSpPr>
          <p:cNvPr id="18" name="model pill"/>
          <p:cNvSpPr/>
          <p:nvPr/>
        </p:nvSpPr>
        <p:spPr>
          <a:xfrm>
            <a:off x="1847088" y="3310128"/>
            <a:ext cx="1280160" cy="347472"/>
          </a:xfrm>
          <a:prstGeom prst="roundRect">
            <a:avLst>
              <a:gd name="adj" fmla="val 50000"/>
            </a:avLst>
          </a:prstGeom>
          <a:solidFill>
            <a:schemeClr val="bg2"/>
          </a:solidFill>
          <a:ln w="15875">
            <a:solidFill>
              <a:schemeClr val="accent4"/>
            </a:solidFill>
            <a:prstDash val="solid"/>
          </a:ln>
        </p:spPr>
      </p:sp>
      <p:sp>
        <p:nvSpPr>
          <p:cNvPr id="19" name="Text 17"/>
          <p:cNvSpPr txBox="1"/>
          <p:nvPr/>
        </p:nvSpPr>
        <p:spPr>
          <a:xfrm>
            <a:off x="1847088" y="3310128"/>
            <a:ext cx="1280160" cy="347472"/>
          </a:xfrm>
          <a:prstGeom prst="rect">
            <a:avLst/>
          </a:prstGeom>
          <a:noFill/>
          <a:ln/>
        </p:spPr>
        <p:txBody>
          <a:bodyPr wrap="square" lIns="0" tIns="0" rIns="0" bIns="0" rtlCol="0" anchor="ctr"/>
          <a:lstStyle/>
          <a:p>
            <a:pPr algn="ctr" indent="0" marL="0">
              <a:buNone/>
            </a:pPr>
            <a:r>
              <a:rPr lang="en-US" sz="1200" b="1" dirty="0">
                <a:solidFill>
                  <a:schemeClr val="tx1"/>
                </a:solidFill>
              </a:rPr>
              <a:t>GPT-6.1</a:t>
            </a:r>
            <a:endParaRPr lang="en-US" sz="1200" dirty="0"/>
          </a:p>
        </p:txBody>
      </p:sp>
      <p:sp>
        <p:nvSpPr>
          <p:cNvPr id="20" name="model pill"/>
          <p:cNvSpPr/>
          <p:nvPr/>
        </p:nvSpPr>
        <p:spPr>
          <a:xfrm>
            <a:off x="3236976" y="3310128"/>
            <a:ext cx="1280160" cy="347472"/>
          </a:xfrm>
          <a:prstGeom prst="roundRect">
            <a:avLst>
              <a:gd name="adj" fmla="val 50000"/>
            </a:avLst>
          </a:prstGeom>
          <a:solidFill>
            <a:schemeClr val="bg2"/>
          </a:solidFill>
          <a:ln w="15875">
            <a:solidFill>
              <a:schemeClr val="accent4"/>
            </a:solidFill>
            <a:prstDash val="solid"/>
          </a:ln>
        </p:spPr>
      </p:sp>
      <p:sp>
        <p:nvSpPr>
          <p:cNvPr id="21" name="Text 19"/>
          <p:cNvSpPr txBox="1"/>
          <p:nvPr/>
        </p:nvSpPr>
        <p:spPr>
          <a:xfrm>
            <a:off x="3236976" y="3310128"/>
            <a:ext cx="1280160" cy="347472"/>
          </a:xfrm>
          <a:prstGeom prst="rect">
            <a:avLst/>
          </a:prstGeom>
          <a:noFill/>
          <a:ln/>
        </p:spPr>
        <p:txBody>
          <a:bodyPr wrap="square" lIns="0" tIns="0" rIns="0" bIns="0" rtlCol="0" anchor="ctr"/>
          <a:lstStyle/>
          <a:p>
            <a:pPr algn="ctr" indent="0" marL="0">
              <a:buNone/>
            </a:pPr>
            <a:r>
              <a:rPr lang="en-US" sz="1200" b="1" dirty="0">
                <a:solidFill>
                  <a:schemeClr val="tx1"/>
                </a:solidFill>
              </a:rPr>
              <a:t>Gemini 4</a:t>
            </a:r>
            <a:endParaRPr lang="en-US" sz="1200" dirty="0"/>
          </a:p>
        </p:txBody>
      </p:sp>
      <p:sp>
        <p:nvSpPr>
          <p:cNvPr id="22" name="model pill"/>
          <p:cNvSpPr/>
          <p:nvPr/>
        </p:nvSpPr>
        <p:spPr>
          <a:xfrm>
            <a:off x="4626864" y="3310128"/>
            <a:ext cx="1280160" cy="347472"/>
          </a:xfrm>
          <a:prstGeom prst="roundRect">
            <a:avLst>
              <a:gd name="adj" fmla="val 50000"/>
            </a:avLst>
          </a:prstGeom>
          <a:solidFill>
            <a:schemeClr val="bg2"/>
          </a:solidFill>
          <a:ln w="15875">
            <a:solidFill>
              <a:schemeClr val="accent1"/>
            </a:solidFill>
            <a:prstDash val="solid"/>
          </a:ln>
        </p:spPr>
      </p:sp>
      <p:sp>
        <p:nvSpPr>
          <p:cNvPr id="23" name="Text 21"/>
          <p:cNvSpPr txBox="1"/>
          <p:nvPr/>
        </p:nvSpPr>
        <p:spPr>
          <a:xfrm>
            <a:off x="4626864" y="3310128"/>
            <a:ext cx="1280160" cy="347472"/>
          </a:xfrm>
          <a:prstGeom prst="rect">
            <a:avLst/>
          </a:prstGeom>
          <a:noFill/>
          <a:ln/>
        </p:spPr>
        <p:txBody>
          <a:bodyPr wrap="square" lIns="0" tIns="0" rIns="0" bIns="0" rtlCol="0" anchor="ctr"/>
          <a:lstStyle/>
          <a:p>
            <a:pPr algn="ctr" indent="0" marL="0">
              <a:buNone/>
            </a:pPr>
            <a:r>
              <a:rPr lang="en-US" sz="1200" b="1" dirty="0">
                <a:solidFill>
                  <a:schemeClr val="accent1"/>
                </a:solidFill>
              </a:rPr>
              <a:t>DeepSeek V4.1</a:t>
            </a:r>
            <a:endParaRPr lang="en-US" sz="1200" dirty="0"/>
          </a:p>
        </p:txBody>
      </p:sp>
      <p:sp>
        <p:nvSpPr>
          <p:cNvPr id="24" name="model pill"/>
          <p:cNvSpPr/>
          <p:nvPr/>
        </p:nvSpPr>
        <p:spPr>
          <a:xfrm>
            <a:off x="6016752" y="3310128"/>
            <a:ext cx="1280160" cy="347472"/>
          </a:xfrm>
          <a:prstGeom prst="roundRect">
            <a:avLst>
              <a:gd name="adj" fmla="val 50000"/>
            </a:avLst>
          </a:prstGeom>
          <a:solidFill>
            <a:schemeClr val="bg2"/>
          </a:solidFill>
          <a:ln w="15875">
            <a:solidFill>
              <a:schemeClr val="accent1"/>
            </a:solidFill>
            <a:prstDash val="solid"/>
          </a:ln>
        </p:spPr>
      </p:sp>
      <p:sp>
        <p:nvSpPr>
          <p:cNvPr id="25" name="Text 23"/>
          <p:cNvSpPr txBox="1"/>
          <p:nvPr/>
        </p:nvSpPr>
        <p:spPr>
          <a:xfrm>
            <a:off x="6016752" y="3310128"/>
            <a:ext cx="1280160" cy="347472"/>
          </a:xfrm>
          <a:prstGeom prst="rect">
            <a:avLst/>
          </a:prstGeom>
          <a:noFill/>
          <a:ln/>
        </p:spPr>
        <p:txBody>
          <a:bodyPr wrap="square" lIns="0" tIns="0" rIns="0" bIns="0" rtlCol="0" anchor="ctr"/>
          <a:lstStyle/>
          <a:p>
            <a:pPr algn="ctr" indent="0" marL="0">
              <a:buNone/>
            </a:pPr>
            <a:r>
              <a:rPr lang="en-US" sz="1200" b="1" dirty="0">
                <a:solidFill>
                  <a:schemeClr val="accent1"/>
                </a:solidFill>
              </a:rPr>
              <a:t>Qwen3.8</a:t>
            </a:r>
            <a:endParaRPr lang="en-US" sz="1200" dirty="0"/>
          </a:p>
        </p:txBody>
      </p:sp>
      <p:sp>
        <p:nvSpPr>
          <p:cNvPr id="26" name="model pill"/>
          <p:cNvSpPr/>
          <p:nvPr/>
        </p:nvSpPr>
        <p:spPr>
          <a:xfrm>
            <a:off x="7406640" y="3310128"/>
            <a:ext cx="1280160" cy="347472"/>
          </a:xfrm>
          <a:prstGeom prst="roundRect">
            <a:avLst>
              <a:gd name="adj" fmla="val 50000"/>
            </a:avLst>
          </a:prstGeom>
          <a:solidFill>
            <a:schemeClr val="bg2"/>
          </a:solidFill>
          <a:ln w="15875">
            <a:solidFill>
              <a:schemeClr val="accent1"/>
            </a:solidFill>
            <a:prstDash val="solid"/>
          </a:ln>
        </p:spPr>
      </p:sp>
      <p:sp>
        <p:nvSpPr>
          <p:cNvPr id="27" name="Text 25"/>
          <p:cNvSpPr txBox="1"/>
          <p:nvPr/>
        </p:nvSpPr>
        <p:spPr>
          <a:xfrm>
            <a:off x="7406640" y="3310128"/>
            <a:ext cx="1280160" cy="347472"/>
          </a:xfrm>
          <a:prstGeom prst="rect">
            <a:avLst/>
          </a:prstGeom>
          <a:noFill/>
          <a:ln/>
        </p:spPr>
        <p:txBody>
          <a:bodyPr wrap="square" lIns="0" tIns="0" rIns="0" bIns="0" rtlCol="0" anchor="ctr"/>
          <a:lstStyle/>
          <a:p>
            <a:pPr algn="ctr" indent="0" marL="0">
              <a:buNone/>
            </a:pPr>
            <a:r>
              <a:rPr lang="en-US" sz="1200" b="1" dirty="0">
                <a:solidFill>
                  <a:schemeClr val="accent1"/>
                </a:solidFill>
              </a:rPr>
              <a:t>Kimi K3</a:t>
            </a:r>
            <a:endParaRPr lang="en-US" sz="1200" dirty="0"/>
          </a:p>
        </p:txBody>
      </p:sp>
      <p:sp>
        <p:nvSpPr>
          <p:cNvPr id="28" name="Text 26"/>
          <p:cNvSpPr txBox="1"/>
          <p:nvPr/>
        </p:nvSpPr>
        <p:spPr>
          <a:xfrm>
            <a:off x="457200" y="3721608"/>
            <a:ext cx="5486400" cy="201168"/>
          </a:xfrm>
          <a:prstGeom prst="rect">
            <a:avLst/>
          </a:prstGeom>
          <a:noFill/>
          <a:ln/>
        </p:spPr>
        <p:txBody>
          <a:bodyPr wrap="square" lIns="0" tIns="0" rIns="0" bIns="0" rtlCol="0" anchor="t"/>
          <a:lstStyle/>
          <a:p>
            <a:pPr indent="0" marL="0">
              <a:buNone/>
            </a:pPr>
            <a:r>
              <a:rPr lang="en-US" sz="1000" dirty="0">
                <a:solidFill>
                  <a:schemeClr val="accent4"/>
                </a:solidFill>
              </a:rPr>
              <a:t>Violet = closed frontier   </a:t>
            </a:r>
            <a:pPr indent="0" marL="0">
              <a:buNone/>
            </a:pPr>
            <a:r>
              <a:rPr lang="en-US" sz="1000" dirty="0">
                <a:solidFill>
                  <a:schemeClr val="accent1"/>
                </a:solidFill>
              </a:rPr>
              <a:t>Aqua = open-weight</a:t>
            </a:r>
            <a:endParaRPr lang="en-US" sz="1000" dirty="0"/>
          </a:p>
        </p:txBody>
      </p:sp>
      <p:sp>
        <p:nvSpPr>
          <p:cNvPr id="29" name="Text 2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b="1" dirty="0">
                <a:solidFill>
                  <a:schemeClr val="tx1"/>
                </a:solidFill>
              </a:rPr>
              <a:t>Frontier models are converging. The winners are small, explainable, governed systems that actually ship, which is exactly what AegisNet is.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The gap: what IT teams really need</a:t>
            </a:r>
            <a:endParaRPr lang="en-US" sz="3200" dirty="0"/>
          </a:p>
        </p:txBody>
      </p:sp>
      <p:sp>
        <p:nvSpPr>
          <p:cNvPr id="3" name="need card"/>
          <p:cNvSpPr/>
          <p:nvPr/>
        </p:nvSpPr>
        <p:spPr>
          <a:xfrm>
            <a:off x="457200" y="1188720"/>
            <a:ext cx="2651760" cy="2148840"/>
          </a:xfrm>
          <a:prstGeom prst="roundRect">
            <a:avLst>
              <a:gd name="adj" fmla="val 5106"/>
            </a:avLst>
          </a:prstGeom>
          <a:solidFill>
            <a:schemeClr val="bg2"/>
          </a:solidFill>
          <a:ln w="9525">
            <a:solidFill>
              <a:schemeClr val="accent5"/>
            </a:solidFill>
            <a:prstDash val="solid"/>
          </a:ln>
        </p:spPr>
      </p:sp>
      <p:sp>
        <p:nvSpPr>
          <p:cNvPr id="4" name="Small and private badge"/>
          <p:cNvSpPr/>
          <p:nvPr/>
        </p:nvSpPr>
        <p:spPr>
          <a:xfrm>
            <a:off x="685800" y="1371600"/>
            <a:ext cx="566928" cy="566928"/>
          </a:xfrm>
          <a:prstGeom prst="ellipse">
            <a:avLst/>
          </a:prstGeom>
          <a:solidFill>
            <a:schemeClr val="accent1"/>
          </a:solidFill>
          <a:ln w="6350">
            <a:solidFill>
              <a:schemeClr val="accent1"/>
            </a:solidFill>
            <a:prstDash val="solid"/>
          </a:ln>
        </p:spPr>
      </p:sp>
      <p:pic>
        <p:nvPicPr>
          <p:cNvPr id="5" name="Image 0" descr="Small and private">    </p:cNvPr>
          <p:cNvPicPr>
            <a:picLocks noChangeAspect="1"/>
          </p:cNvPicPr>
          <p:nvPr/>
        </p:nvPicPr>
        <p:blipFill>
          <a:blip r:embed="rId1"/>
          <a:stretch>
            <a:fillRect/>
          </a:stretch>
        </p:blipFill>
        <p:spPr>
          <a:xfrm>
            <a:off x="827532" y="1513332"/>
            <a:ext cx="283464" cy="283464"/>
          </a:xfrm>
          <a:prstGeom prst="rect">
            <a:avLst/>
          </a:prstGeom>
        </p:spPr>
      </p:pic>
      <p:sp>
        <p:nvSpPr>
          <p:cNvPr id="6" name="Text 3"/>
          <p:cNvSpPr txBox="1"/>
          <p:nvPr/>
        </p:nvSpPr>
        <p:spPr>
          <a:xfrm>
            <a:off x="685800" y="2057400"/>
            <a:ext cx="2286000" cy="320040"/>
          </a:xfrm>
          <a:prstGeom prst="rect">
            <a:avLst/>
          </a:prstGeom>
          <a:noFill/>
          <a:ln/>
        </p:spPr>
        <p:txBody>
          <a:bodyPr wrap="square" lIns="0" tIns="0" rIns="0" bIns="0" rtlCol="0" anchor="t"/>
          <a:lstStyle/>
          <a:p>
            <a:pPr indent="0" marL="0">
              <a:buNone/>
            </a:pPr>
            <a:r>
              <a:rPr lang="en-US" sz="1800" b="1" dirty="0">
                <a:solidFill>
                  <a:schemeClr val="tx1"/>
                </a:solidFill>
              </a:rPr>
              <a:t>Small and private</a:t>
            </a:r>
            <a:endParaRPr lang="en-US" sz="1800" dirty="0"/>
          </a:p>
        </p:txBody>
      </p:sp>
      <p:sp>
        <p:nvSpPr>
          <p:cNvPr id="7" name="Text 4"/>
          <p:cNvSpPr txBox="1"/>
          <p:nvPr/>
        </p:nvSpPr>
        <p:spPr>
          <a:xfrm>
            <a:off x="685800" y="2468880"/>
            <a:ext cx="2240280" cy="777240"/>
          </a:xfrm>
          <a:prstGeom prst="rect">
            <a:avLst/>
          </a:prstGeom>
          <a:noFill/>
          <a:ln/>
        </p:spPr>
        <p:txBody>
          <a:bodyPr wrap="square" lIns="0" tIns="0" rIns="0" bIns="0" rtlCol="0" anchor="t"/>
          <a:lstStyle/>
          <a:p>
            <a:pPr indent="0" marL="0">
              <a:buNone/>
            </a:pPr>
            <a:r>
              <a:rPr lang="en-US" sz="1300" dirty="0">
                <a:solidFill>
                  <a:schemeClr val="tx1"/>
                </a:solidFill>
              </a:rPr>
              <a:t>Runs on a laptop or Raspberry Pi. Telemetry never leaves your network.</a:t>
            </a:r>
            <a:endParaRPr lang="en-US" sz="1300" dirty="0"/>
          </a:p>
        </p:txBody>
      </p:sp>
      <p:sp>
        <p:nvSpPr>
          <p:cNvPr id="8" name="need card"/>
          <p:cNvSpPr/>
          <p:nvPr/>
        </p:nvSpPr>
        <p:spPr>
          <a:xfrm>
            <a:off x="3246120" y="1188720"/>
            <a:ext cx="2651760" cy="2148840"/>
          </a:xfrm>
          <a:prstGeom prst="roundRect">
            <a:avLst>
              <a:gd name="adj" fmla="val 5106"/>
            </a:avLst>
          </a:prstGeom>
          <a:solidFill>
            <a:schemeClr val="bg2"/>
          </a:solidFill>
          <a:ln w="9525">
            <a:solidFill>
              <a:schemeClr val="accent5"/>
            </a:solidFill>
            <a:prstDash val="solid"/>
          </a:ln>
        </p:spPr>
      </p:sp>
      <p:sp>
        <p:nvSpPr>
          <p:cNvPr id="9" name="Explainable badge"/>
          <p:cNvSpPr/>
          <p:nvPr/>
        </p:nvSpPr>
        <p:spPr>
          <a:xfrm>
            <a:off x="3474720" y="1371600"/>
            <a:ext cx="566928" cy="566928"/>
          </a:xfrm>
          <a:prstGeom prst="ellipse">
            <a:avLst/>
          </a:prstGeom>
          <a:solidFill>
            <a:schemeClr val="accent1"/>
          </a:solidFill>
          <a:ln w="6350">
            <a:solidFill>
              <a:schemeClr val="accent1"/>
            </a:solidFill>
            <a:prstDash val="solid"/>
          </a:ln>
        </p:spPr>
      </p:sp>
      <p:pic>
        <p:nvPicPr>
          <p:cNvPr id="10" name="Image 1" descr="Explainable">    </p:cNvPr>
          <p:cNvPicPr>
            <a:picLocks noChangeAspect="1"/>
          </p:cNvPicPr>
          <p:nvPr/>
        </p:nvPicPr>
        <p:blipFill>
          <a:blip r:embed="rId2"/>
          <a:stretch>
            <a:fillRect/>
          </a:stretch>
        </p:blipFill>
        <p:spPr>
          <a:xfrm>
            <a:off x="3616452" y="1513332"/>
            <a:ext cx="283464" cy="283464"/>
          </a:xfrm>
          <a:prstGeom prst="rect">
            <a:avLst/>
          </a:prstGeom>
        </p:spPr>
      </p:pic>
      <p:sp>
        <p:nvSpPr>
          <p:cNvPr id="11" name="Text 7"/>
          <p:cNvSpPr txBox="1"/>
          <p:nvPr/>
        </p:nvSpPr>
        <p:spPr>
          <a:xfrm>
            <a:off x="3474720" y="2057400"/>
            <a:ext cx="2286000" cy="320040"/>
          </a:xfrm>
          <a:prstGeom prst="rect">
            <a:avLst/>
          </a:prstGeom>
          <a:noFill/>
          <a:ln/>
        </p:spPr>
        <p:txBody>
          <a:bodyPr wrap="square" lIns="0" tIns="0" rIns="0" bIns="0" rtlCol="0" anchor="t"/>
          <a:lstStyle/>
          <a:p>
            <a:pPr indent="0" marL="0">
              <a:buNone/>
            </a:pPr>
            <a:r>
              <a:rPr lang="en-US" sz="1800" b="1" dirty="0">
                <a:solidFill>
                  <a:schemeClr val="tx1"/>
                </a:solidFill>
              </a:rPr>
              <a:t>Explainable</a:t>
            </a:r>
            <a:endParaRPr lang="en-US" sz="1800" dirty="0"/>
          </a:p>
        </p:txBody>
      </p:sp>
      <p:sp>
        <p:nvSpPr>
          <p:cNvPr id="12" name="Text 8"/>
          <p:cNvSpPr txBox="1"/>
          <p:nvPr/>
        </p:nvSpPr>
        <p:spPr>
          <a:xfrm>
            <a:off x="3474720" y="2468880"/>
            <a:ext cx="2240280" cy="777240"/>
          </a:xfrm>
          <a:prstGeom prst="rect">
            <a:avLst/>
          </a:prstGeom>
          <a:noFill/>
          <a:ln/>
        </p:spPr>
        <p:txBody>
          <a:bodyPr wrap="square" lIns="0" tIns="0" rIns="0" bIns="0" rtlCol="0" anchor="t"/>
          <a:lstStyle/>
          <a:p>
            <a:pPr indent="0" marL="0">
              <a:buNone/>
            </a:pPr>
            <a:r>
              <a:rPr lang="en-US" sz="1300" dirty="0">
                <a:solidFill>
                  <a:schemeClr val="tx1"/>
                </a:solidFill>
              </a:rPr>
              <a:t>On-call engineers need to know WHY they were paged, not just a score.</a:t>
            </a:r>
            <a:endParaRPr lang="en-US" sz="1300" dirty="0"/>
          </a:p>
        </p:txBody>
      </p:sp>
      <p:sp>
        <p:nvSpPr>
          <p:cNvPr id="13" name="need card"/>
          <p:cNvSpPr/>
          <p:nvPr/>
        </p:nvSpPr>
        <p:spPr>
          <a:xfrm>
            <a:off x="6035040" y="1188720"/>
            <a:ext cx="2651760" cy="2148840"/>
          </a:xfrm>
          <a:prstGeom prst="roundRect">
            <a:avLst>
              <a:gd name="adj" fmla="val 5106"/>
            </a:avLst>
          </a:prstGeom>
          <a:solidFill>
            <a:schemeClr val="bg2"/>
          </a:solidFill>
          <a:ln w="9525">
            <a:solidFill>
              <a:schemeClr val="accent5"/>
            </a:solidFill>
            <a:prstDash val="solid"/>
          </a:ln>
        </p:spPr>
      </p:sp>
      <p:sp>
        <p:nvSpPr>
          <p:cNvPr id="14" name="Governed badge"/>
          <p:cNvSpPr/>
          <p:nvPr/>
        </p:nvSpPr>
        <p:spPr>
          <a:xfrm>
            <a:off x="6263640" y="1371600"/>
            <a:ext cx="566928" cy="566928"/>
          </a:xfrm>
          <a:prstGeom prst="ellipse">
            <a:avLst/>
          </a:prstGeom>
          <a:solidFill>
            <a:schemeClr val="accent1"/>
          </a:solidFill>
          <a:ln w="6350">
            <a:solidFill>
              <a:schemeClr val="accent1"/>
            </a:solidFill>
            <a:prstDash val="solid"/>
          </a:ln>
        </p:spPr>
      </p:sp>
      <p:pic>
        <p:nvPicPr>
          <p:cNvPr id="15" name="Image 2" descr="Governed">    </p:cNvPr>
          <p:cNvPicPr>
            <a:picLocks noChangeAspect="1"/>
          </p:cNvPicPr>
          <p:nvPr/>
        </p:nvPicPr>
        <p:blipFill>
          <a:blip r:embed="rId3"/>
          <a:stretch>
            <a:fillRect/>
          </a:stretch>
        </p:blipFill>
        <p:spPr>
          <a:xfrm>
            <a:off x="6405372" y="1513332"/>
            <a:ext cx="283464" cy="283464"/>
          </a:xfrm>
          <a:prstGeom prst="rect">
            <a:avLst/>
          </a:prstGeom>
        </p:spPr>
      </p:pic>
      <p:sp>
        <p:nvSpPr>
          <p:cNvPr id="16" name="Text 11"/>
          <p:cNvSpPr txBox="1"/>
          <p:nvPr/>
        </p:nvSpPr>
        <p:spPr>
          <a:xfrm>
            <a:off x="6263640" y="2057400"/>
            <a:ext cx="2286000" cy="320040"/>
          </a:xfrm>
          <a:prstGeom prst="rect">
            <a:avLst/>
          </a:prstGeom>
          <a:noFill/>
          <a:ln/>
        </p:spPr>
        <p:txBody>
          <a:bodyPr wrap="square" lIns="0" tIns="0" rIns="0" bIns="0" rtlCol="0" anchor="t"/>
          <a:lstStyle/>
          <a:p>
            <a:pPr indent="0" marL="0">
              <a:buNone/>
            </a:pPr>
            <a:r>
              <a:rPr lang="en-US" sz="1800" b="1" dirty="0">
                <a:solidFill>
                  <a:schemeClr val="tx1"/>
                </a:solidFill>
              </a:rPr>
              <a:t>Governed</a:t>
            </a:r>
            <a:endParaRPr lang="en-US" sz="1800" dirty="0"/>
          </a:p>
        </p:txBody>
      </p:sp>
      <p:sp>
        <p:nvSpPr>
          <p:cNvPr id="17" name="Text 12"/>
          <p:cNvSpPr txBox="1"/>
          <p:nvPr/>
        </p:nvSpPr>
        <p:spPr>
          <a:xfrm>
            <a:off x="6263640" y="2468880"/>
            <a:ext cx="2240280" cy="777240"/>
          </a:xfrm>
          <a:prstGeom prst="rect">
            <a:avLst/>
          </a:prstGeom>
          <a:noFill/>
          <a:ln/>
        </p:spPr>
        <p:txBody>
          <a:bodyPr wrap="square" lIns="0" tIns="0" rIns="0" bIns="0" rtlCol="0" anchor="t"/>
          <a:lstStyle/>
          <a:p>
            <a:pPr indent="0" marL="0">
              <a:buNone/>
            </a:pPr>
            <a:r>
              <a:rPr lang="en-US" sz="1300" dirty="0">
                <a:solidFill>
                  <a:schemeClr val="tx1"/>
                </a:solidFill>
              </a:rPr>
              <a:t>Risky actions need a human OK, and the model must warn when it goes stale.</a:t>
            </a:r>
            <a:endParaRPr lang="en-US" sz="1300" dirty="0"/>
          </a:p>
        </p:txBody>
      </p:sp>
      <p:sp>
        <p:nvSpPr>
          <p:cNvPr id="18" name="answer strip"/>
          <p:cNvSpPr/>
          <p:nvPr/>
        </p:nvSpPr>
        <p:spPr>
          <a:xfrm>
            <a:off x="457200" y="3566160"/>
            <a:ext cx="8229600" cy="914400"/>
          </a:xfrm>
          <a:prstGeom prst="roundRect">
            <a:avLst>
              <a:gd name="adj" fmla="val 12000"/>
            </a:avLst>
          </a:prstGeom>
          <a:solidFill>
            <a:schemeClr val="bg2"/>
          </a:solidFill>
          <a:ln w="9525">
            <a:solidFill>
              <a:schemeClr val="accent5"/>
            </a:solidFill>
            <a:prstDash val="solid"/>
          </a:ln>
        </p:spPr>
      </p:sp>
      <p:sp>
        <p:nvSpPr>
          <p:cNvPr id="19" name="Text 14"/>
          <p:cNvSpPr txBox="1"/>
          <p:nvPr/>
        </p:nvSpPr>
        <p:spPr>
          <a:xfrm>
            <a:off x="731520" y="3703320"/>
            <a:ext cx="7680960" cy="640080"/>
          </a:xfrm>
          <a:prstGeom prst="rect">
            <a:avLst/>
          </a:prstGeom>
          <a:noFill/>
          <a:ln/>
        </p:spPr>
        <p:txBody>
          <a:bodyPr wrap="square" lIns="0" tIns="0" rIns="0" bIns="0" rtlCol="0" anchor="ctr"/>
          <a:lstStyle/>
          <a:p>
            <a:pPr indent="0" marL="0">
              <a:buNone/>
            </a:pPr>
            <a:r>
              <a:rPr lang="en-US" sz="1600" b="1" dirty="0">
                <a:solidFill>
                  <a:schemeClr val="accent1"/>
                </a:solidFill>
              </a:rPr>
              <a:t>Our answer: </a:t>
            </a:r>
            <a:pPr indent="0" marL="0">
              <a:buNone/>
            </a:pPr>
            <a:r>
              <a:rPr lang="en-US" sz="1600" dirty="0">
                <a:solidFill>
                  <a:schemeClr val="tx1"/>
                </a:solidFill>
              </a:rPr>
              <a:t>one 34 KB neural network that watches server metrics, explains every alert, and asks a human before anything risky.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Architecture: the Dual-Brain design</a:t>
            </a:r>
            <a:endParaRPr lang="en-US" sz="3200" dirty="0"/>
          </a:p>
        </p:txBody>
      </p:sp>
      <p:sp>
        <p:nvSpPr>
          <p:cNvPr id="3" name="Telemetry"/>
          <p:cNvSpPr/>
          <p:nvPr/>
        </p:nvSpPr>
        <p:spPr>
          <a:xfrm>
            <a:off x="457200" y="2057400"/>
            <a:ext cx="1234440" cy="1097280"/>
          </a:xfrm>
          <a:prstGeom prst="roundRect">
            <a:avLst>
              <a:gd name="adj" fmla="val 8333"/>
            </a:avLst>
          </a:prstGeom>
          <a:solidFill>
            <a:schemeClr val="bg2"/>
          </a:solidFill>
          <a:ln w="19050">
            <a:solidFill>
              <a:schemeClr val="accent1"/>
            </a:solidFill>
            <a:prstDash val="solid"/>
          </a:ln>
        </p:spPr>
      </p:sp>
      <p:sp>
        <p:nvSpPr>
          <p:cNvPr id="4" name="Text 2"/>
          <p:cNvSpPr txBox="1"/>
          <p:nvPr/>
        </p:nvSpPr>
        <p:spPr>
          <a:xfrm>
            <a:off x="548640" y="2167128"/>
            <a:ext cx="1051560" cy="274320"/>
          </a:xfrm>
          <a:prstGeom prst="rect">
            <a:avLst/>
          </a:prstGeom>
          <a:noFill/>
          <a:ln/>
        </p:spPr>
        <p:txBody>
          <a:bodyPr wrap="square" lIns="0" tIns="0" rIns="0" bIns="0" rtlCol="0" anchor="t"/>
          <a:lstStyle/>
          <a:p>
            <a:pPr algn="ctr" indent="0" marL="0">
              <a:buNone/>
            </a:pPr>
            <a:r>
              <a:rPr lang="en-US" sz="1300" b="1" dirty="0">
                <a:solidFill>
                  <a:schemeClr val="accent1"/>
                </a:solidFill>
              </a:rPr>
              <a:t>Telemetry</a:t>
            </a:r>
            <a:endParaRPr lang="en-US" sz="1300" dirty="0"/>
          </a:p>
        </p:txBody>
      </p:sp>
      <p:sp>
        <p:nvSpPr>
          <p:cNvPr id="5" name="Text 3"/>
          <p:cNvSpPr txBox="1"/>
          <p:nvPr/>
        </p:nvSpPr>
        <p:spPr>
          <a:xfrm>
            <a:off x="548640" y="2496312"/>
            <a:ext cx="1051560" cy="594360"/>
          </a:xfrm>
          <a:prstGeom prst="rect">
            <a:avLst/>
          </a:prstGeom>
          <a:noFill/>
          <a:ln/>
        </p:spPr>
        <p:txBody>
          <a:bodyPr wrap="square" lIns="0" tIns="0" rIns="0" bIns="0" rtlCol="0" anchor="t"/>
          <a:lstStyle/>
          <a:p>
            <a:pPr algn="ctr" indent="0" marL="0">
              <a:buNone/>
            </a:pPr>
            <a:r>
              <a:rPr lang="en-US" sz="1100" dirty="0">
                <a:solidFill>
                  <a:schemeClr val="tx1"/>
                </a:solidFill>
              </a:rPr>
              <a:t>13 server metrics every minute</a:t>
            </a:r>
            <a:endParaRPr lang="en-US" sz="1100" dirty="0"/>
          </a:p>
        </p:txBody>
      </p:sp>
      <p:sp>
        <p:nvSpPr>
          <p:cNvPr id="6" name="Features"/>
          <p:cNvSpPr/>
          <p:nvPr/>
        </p:nvSpPr>
        <p:spPr>
          <a:xfrm>
            <a:off x="1920240" y="2057400"/>
            <a:ext cx="1234440" cy="1097280"/>
          </a:xfrm>
          <a:prstGeom prst="roundRect">
            <a:avLst>
              <a:gd name="adj" fmla="val 8333"/>
            </a:avLst>
          </a:prstGeom>
          <a:solidFill>
            <a:schemeClr val="bg2"/>
          </a:solidFill>
          <a:ln w="19050">
            <a:solidFill>
              <a:schemeClr val="accent1"/>
            </a:solidFill>
            <a:prstDash val="solid"/>
          </a:ln>
        </p:spPr>
      </p:sp>
      <p:sp>
        <p:nvSpPr>
          <p:cNvPr id="7" name="Text 5"/>
          <p:cNvSpPr txBox="1"/>
          <p:nvPr/>
        </p:nvSpPr>
        <p:spPr>
          <a:xfrm>
            <a:off x="2011680" y="2167128"/>
            <a:ext cx="1051560" cy="274320"/>
          </a:xfrm>
          <a:prstGeom prst="rect">
            <a:avLst/>
          </a:prstGeom>
          <a:noFill/>
          <a:ln/>
        </p:spPr>
        <p:txBody>
          <a:bodyPr wrap="square" lIns="0" tIns="0" rIns="0" bIns="0" rtlCol="0" anchor="t"/>
          <a:lstStyle/>
          <a:p>
            <a:pPr algn="ctr" indent="0" marL="0">
              <a:buNone/>
            </a:pPr>
            <a:r>
              <a:rPr lang="en-US" sz="1300" b="1" dirty="0">
                <a:solidFill>
                  <a:schemeClr val="accent1"/>
                </a:solidFill>
              </a:rPr>
              <a:t>Features</a:t>
            </a:r>
            <a:endParaRPr lang="en-US" sz="1300" dirty="0"/>
          </a:p>
        </p:txBody>
      </p:sp>
      <p:sp>
        <p:nvSpPr>
          <p:cNvPr id="8" name="Text 6"/>
          <p:cNvSpPr txBox="1"/>
          <p:nvPr/>
        </p:nvSpPr>
        <p:spPr>
          <a:xfrm>
            <a:off x="2011680" y="2496312"/>
            <a:ext cx="1051560" cy="594360"/>
          </a:xfrm>
          <a:prstGeom prst="rect">
            <a:avLst/>
          </a:prstGeom>
          <a:noFill/>
          <a:ln/>
        </p:spPr>
        <p:txBody>
          <a:bodyPr wrap="square" lIns="0" tIns="0" rIns="0" bIns="0" rtlCol="0" anchor="t"/>
          <a:lstStyle/>
          <a:p>
            <a:pPr algn="ctr" indent="0" marL="0">
              <a:buNone/>
            </a:pPr>
            <a:r>
              <a:rPr lang="en-US" sz="1100" dirty="0">
                <a:solidFill>
                  <a:schemeClr val="tx1"/>
                </a:solidFill>
              </a:rPr>
              <a:t>26 inputs: level + change</a:t>
            </a:r>
            <a:endParaRPr lang="en-US" sz="1100" dirty="0"/>
          </a:p>
        </p:txBody>
      </p:sp>
      <p:sp>
        <p:nvSpPr>
          <p:cNvPr id="9" name="BRAIN 1: Autoencoder"/>
          <p:cNvSpPr/>
          <p:nvPr/>
        </p:nvSpPr>
        <p:spPr>
          <a:xfrm>
            <a:off x="3429000" y="1280160"/>
            <a:ext cx="1965960" cy="1188720"/>
          </a:xfrm>
          <a:prstGeom prst="roundRect">
            <a:avLst>
              <a:gd name="adj" fmla="val 7692"/>
            </a:avLst>
          </a:prstGeom>
          <a:solidFill>
            <a:schemeClr val="bg2"/>
          </a:solidFill>
          <a:ln w="19050">
            <a:solidFill>
              <a:schemeClr val="accent4"/>
            </a:solidFill>
            <a:prstDash val="solid"/>
          </a:ln>
        </p:spPr>
      </p:sp>
      <p:sp>
        <p:nvSpPr>
          <p:cNvPr id="10" name="Text 8"/>
          <p:cNvSpPr txBox="1"/>
          <p:nvPr/>
        </p:nvSpPr>
        <p:spPr>
          <a:xfrm>
            <a:off x="3520440" y="1389888"/>
            <a:ext cx="1783080" cy="274320"/>
          </a:xfrm>
          <a:prstGeom prst="rect">
            <a:avLst/>
          </a:prstGeom>
          <a:noFill/>
          <a:ln/>
        </p:spPr>
        <p:txBody>
          <a:bodyPr wrap="square" lIns="0" tIns="0" rIns="0" bIns="0" rtlCol="0" anchor="t"/>
          <a:lstStyle/>
          <a:p>
            <a:pPr algn="ctr" indent="0" marL="0">
              <a:buNone/>
            </a:pPr>
            <a:r>
              <a:rPr lang="en-US" sz="1300" b="1" dirty="0">
                <a:solidFill>
                  <a:schemeClr val="accent4"/>
                </a:solidFill>
              </a:rPr>
              <a:t>BRAIN 1: Autoencoder</a:t>
            </a:r>
            <a:endParaRPr lang="en-US" sz="1300" dirty="0"/>
          </a:p>
        </p:txBody>
      </p:sp>
      <p:sp>
        <p:nvSpPr>
          <p:cNvPr id="11" name="Text 9"/>
          <p:cNvSpPr txBox="1"/>
          <p:nvPr/>
        </p:nvSpPr>
        <p:spPr>
          <a:xfrm>
            <a:off x="3520440" y="1719072"/>
            <a:ext cx="1783080" cy="685800"/>
          </a:xfrm>
          <a:prstGeom prst="rect">
            <a:avLst/>
          </a:prstGeom>
          <a:noFill/>
          <a:ln/>
        </p:spPr>
        <p:txBody>
          <a:bodyPr wrap="square" lIns="0" tIns="0" rIns="0" bIns="0" rtlCol="0" anchor="t"/>
          <a:lstStyle/>
          <a:p>
            <a:pPr algn="ctr" indent="0" marL="0">
              <a:buNone/>
            </a:pPr>
            <a:r>
              <a:rPr lang="en-US" sz="1100" dirty="0">
                <a:solidFill>
                  <a:schemeClr val="tx1"/>
                </a:solidFill>
              </a:rPr>
              <a:t>26&gt;18&gt;6&gt;18&gt;26. Learns only NORMAL. Finds unknown threats.</a:t>
            </a:r>
            <a:endParaRPr lang="en-US" sz="1100" dirty="0"/>
          </a:p>
        </p:txBody>
      </p:sp>
      <p:sp>
        <p:nvSpPr>
          <p:cNvPr id="12" name="BRAIN 2: Classifier"/>
          <p:cNvSpPr/>
          <p:nvPr/>
        </p:nvSpPr>
        <p:spPr>
          <a:xfrm>
            <a:off x="3429000" y="2743200"/>
            <a:ext cx="1965960" cy="1188720"/>
          </a:xfrm>
          <a:prstGeom prst="roundRect">
            <a:avLst>
              <a:gd name="adj" fmla="val 7692"/>
            </a:avLst>
          </a:prstGeom>
          <a:solidFill>
            <a:schemeClr val="bg2"/>
          </a:solidFill>
          <a:ln w="19050">
            <a:solidFill>
              <a:schemeClr val="accent3"/>
            </a:solidFill>
            <a:prstDash val="solid"/>
          </a:ln>
        </p:spPr>
      </p:sp>
      <p:sp>
        <p:nvSpPr>
          <p:cNvPr id="13" name="Text 11"/>
          <p:cNvSpPr txBox="1"/>
          <p:nvPr/>
        </p:nvSpPr>
        <p:spPr>
          <a:xfrm>
            <a:off x="3520440" y="2852928"/>
            <a:ext cx="1783080" cy="274320"/>
          </a:xfrm>
          <a:prstGeom prst="rect">
            <a:avLst/>
          </a:prstGeom>
          <a:noFill/>
          <a:ln/>
        </p:spPr>
        <p:txBody>
          <a:bodyPr wrap="square" lIns="0" tIns="0" rIns="0" bIns="0" rtlCol="0" anchor="t"/>
          <a:lstStyle/>
          <a:p>
            <a:pPr algn="ctr" indent="0" marL="0">
              <a:buNone/>
            </a:pPr>
            <a:r>
              <a:rPr lang="en-US" sz="1300" b="1" dirty="0">
                <a:solidFill>
                  <a:schemeClr val="accent3"/>
                </a:solidFill>
              </a:rPr>
              <a:t>BRAIN 2: Classifier</a:t>
            </a:r>
            <a:endParaRPr lang="en-US" sz="1300" dirty="0"/>
          </a:p>
        </p:txBody>
      </p:sp>
      <p:sp>
        <p:nvSpPr>
          <p:cNvPr id="14" name="Text 12"/>
          <p:cNvSpPr txBox="1"/>
          <p:nvPr/>
        </p:nvSpPr>
        <p:spPr>
          <a:xfrm>
            <a:off x="3520440" y="3182112"/>
            <a:ext cx="1783080" cy="685800"/>
          </a:xfrm>
          <a:prstGeom prst="rect">
            <a:avLst/>
          </a:prstGeom>
          <a:noFill/>
          <a:ln/>
        </p:spPr>
        <p:txBody>
          <a:bodyPr wrap="square" lIns="0" tIns="0" rIns="0" bIns="0" rtlCol="0" anchor="t"/>
          <a:lstStyle/>
          <a:p>
            <a:pPr algn="ctr" indent="0" marL="0">
              <a:buNone/>
            </a:pPr>
            <a:r>
              <a:rPr lang="en-US" sz="1100" dirty="0">
                <a:solidFill>
                  <a:schemeClr val="tx1"/>
                </a:solidFill>
              </a:rPr>
              <a:t>26&gt;48&gt;24&gt;7. Names the known attack families.</a:t>
            </a:r>
            <a:endParaRPr lang="en-US" sz="1100" dirty="0"/>
          </a:p>
        </p:txBody>
      </p:sp>
      <p:sp>
        <p:nvSpPr>
          <p:cNvPr id="15" name="FUSION"/>
          <p:cNvSpPr/>
          <p:nvPr/>
        </p:nvSpPr>
        <p:spPr>
          <a:xfrm>
            <a:off x="5669280" y="2057400"/>
            <a:ext cx="1234440" cy="1097280"/>
          </a:xfrm>
          <a:prstGeom prst="roundRect">
            <a:avLst>
              <a:gd name="adj" fmla="val 8333"/>
            </a:avLst>
          </a:prstGeom>
          <a:solidFill>
            <a:schemeClr val="bg2"/>
          </a:solidFill>
          <a:ln w="19050">
            <a:solidFill>
              <a:schemeClr val="accent2"/>
            </a:solidFill>
            <a:prstDash val="solid"/>
          </a:ln>
        </p:spPr>
      </p:sp>
      <p:sp>
        <p:nvSpPr>
          <p:cNvPr id="16" name="Text 14"/>
          <p:cNvSpPr txBox="1"/>
          <p:nvPr/>
        </p:nvSpPr>
        <p:spPr>
          <a:xfrm>
            <a:off x="5760720" y="2167128"/>
            <a:ext cx="1051560" cy="274320"/>
          </a:xfrm>
          <a:prstGeom prst="rect">
            <a:avLst/>
          </a:prstGeom>
          <a:noFill/>
          <a:ln/>
        </p:spPr>
        <p:txBody>
          <a:bodyPr wrap="square" lIns="0" tIns="0" rIns="0" bIns="0" rtlCol="0" anchor="t"/>
          <a:lstStyle/>
          <a:p>
            <a:pPr algn="ctr" indent="0" marL="0">
              <a:buNone/>
            </a:pPr>
            <a:r>
              <a:rPr lang="en-US" sz="1300" b="1" dirty="0">
                <a:solidFill>
                  <a:schemeClr val="accent2"/>
                </a:solidFill>
              </a:rPr>
              <a:t>FUSION</a:t>
            </a:r>
            <a:endParaRPr lang="en-US" sz="1300" dirty="0"/>
          </a:p>
        </p:txBody>
      </p:sp>
      <p:sp>
        <p:nvSpPr>
          <p:cNvPr id="17" name="Text 15"/>
          <p:cNvSpPr txBox="1"/>
          <p:nvPr/>
        </p:nvSpPr>
        <p:spPr>
          <a:xfrm>
            <a:off x="5760720" y="2496312"/>
            <a:ext cx="1051560" cy="594360"/>
          </a:xfrm>
          <a:prstGeom prst="rect">
            <a:avLst/>
          </a:prstGeom>
          <a:noFill/>
          <a:ln/>
        </p:spPr>
        <p:txBody>
          <a:bodyPr wrap="square" lIns="0" tIns="0" rIns="0" bIns="0" rtlCol="0" anchor="t"/>
          <a:lstStyle/>
          <a:p>
            <a:pPr algn="ctr" indent="0" marL="0">
              <a:buNone/>
            </a:pPr>
            <a:r>
              <a:rPr lang="en-US" sz="1100" dirty="0">
                <a:solidFill>
                  <a:schemeClr val="tx1"/>
                </a:solidFill>
              </a:rPr>
              <a:t>Risk 0-100 + signature check</a:t>
            </a:r>
            <a:endParaRPr lang="en-US" sz="1100" dirty="0"/>
          </a:p>
        </p:txBody>
      </p:sp>
      <p:sp>
        <p:nvSpPr>
          <p:cNvPr id="18" name="arrow"/>
          <p:cNvSpPr/>
          <p:nvPr/>
        </p:nvSpPr>
        <p:spPr>
          <a:xfrm>
            <a:off x="1691640" y="2606040"/>
            <a:ext cx="228600" cy="0"/>
          </a:xfrm>
          <a:prstGeom prst="line">
            <a:avLst/>
          </a:prstGeom>
          <a:noFill/>
          <a:ln w="25400">
            <a:solidFill>
              <a:schemeClr val="accent1"/>
            </a:solidFill>
            <a:prstDash val="solid"/>
            <a:tailEnd type="triangle"/>
          </a:ln>
        </p:spPr>
      </p:sp>
      <p:sp>
        <p:nvSpPr>
          <p:cNvPr id="19" name="arrow"/>
          <p:cNvSpPr/>
          <p:nvPr/>
        </p:nvSpPr>
        <p:spPr>
          <a:xfrm>
            <a:off x="3154680" y="2606040"/>
            <a:ext cx="274320" cy="0"/>
          </a:xfrm>
          <a:prstGeom prst="line">
            <a:avLst/>
          </a:prstGeom>
          <a:noFill/>
          <a:ln w="25400">
            <a:solidFill>
              <a:schemeClr val="accent1"/>
            </a:solidFill>
            <a:prstDash val="solid"/>
            <a:tailEnd type="triangle"/>
          </a:ln>
        </p:spPr>
      </p:sp>
      <p:sp>
        <p:nvSpPr>
          <p:cNvPr id="20" name="join"/>
          <p:cNvSpPr/>
          <p:nvPr/>
        </p:nvSpPr>
        <p:spPr>
          <a:xfrm>
            <a:off x="5394960" y="1874520"/>
            <a:ext cx="274320" cy="731520"/>
          </a:xfrm>
          <a:prstGeom prst="line">
            <a:avLst/>
          </a:prstGeom>
          <a:noFill/>
          <a:ln w="25400">
            <a:solidFill>
              <a:schemeClr val="accent1"/>
            </a:solidFill>
            <a:prstDash val="solid"/>
          </a:ln>
        </p:spPr>
      </p:sp>
      <p:sp>
        <p:nvSpPr>
          <p:cNvPr id="21" name="join"/>
          <p:cNvSpPr/>
          <p:nvPr/>
        </p:nvSpPr>
        <p:spPr>
          <a:xfrm flipV="1">
            <a:off x="5394960" y="2606040"/>
            <a:ext cx="274320" cy="731520"/>
          </a:xfrm>
          <a:prstGeom prst="line">
            <a:avLst/>
          </a:prstGeom>
          <a:noFill/>
          <a:ln w="25400">
            <a:solidFill>
              <a:schemeClr val="accent1"/>
            </a:solidFill>
            <a:prstDash val="solid"/>
          </a:ln>
        </p:spPr>
      </p:sp>
      <p:sp>
        <p:nvSpPr>
          <p:cNvPr id="22" name="arrow"/>
          <p:cNvSpPr/>
          <p:nvPr/>
        </p:nvSpPr>
        <p:spPr>
          <a:xfrm>
            <a:off x="6903720" y="2606040"/>
            <a:ext cx="320040" cy="0"/>
          </a:xfrm>
          <a:prstGeom prst="line">
            <a:avLst/>
          </a:prstGeom>
          <a:noFill/>
          <a:ln w="25400">
            <a:solidFill>
              <a:schemeClr val="accent1"/>
            </a:solidFill>
            <a:prstDash val="solid"/>
            <a:tailEnd type="triangle"/>
          </a:ln>
        </p:spPr>
      </p:sp>
      <p:sp>
        <p:nvSpPr>
          <p:cNvPr id="23" name="Explain"/>
          <p:cNvSpPr/>
          <p:nvPr/>
        </p:nvSpPr>
        <p:spPr>
          <a:xfrm>
            <a:off x="7223760" y="1280160"/>
            <a:ext cx="1463040" cy="731520"/>
          </a:xfrm>
          <a:prstGeom prst="roundRect">
            <a:avLst>
              <a:gd name="adj" fmla="val 12500"/>
            </a:avLst>
          </a:prstGeom>
          <a:solidFill>
            <a:schemeClr val="bg2"/>
          </a:solidFill>
          <a:ln w="15875">
            <a:solidFill>
              <a:schemeClr val="accent6"/>
            </a:solidFill>
            <a:prstDash val="solid"/>
          </a:ln>
        </p:spPr>
      </p:sp>
      <p:sp>
        <p:nvSpPr>
          <p:cNvPr id="24" name="Text 22"/>
          <p:cNvSpPr txBox="1"/>
          <p:nvPr/>
        </p:nvSpPr>
        <p:spPr>
          <a:xfrm>
            <a:off x="7223760" y="1280160"/>
            <a:ext cx="1463040" cy="731520"/>
          </a:xfrm>
          <a:prstGeom prst="rect">
            <a:avLst/>
          </a:prstGeom>
          <a:noFill/>
          <a:ln/>
        </p:spPr>
        <p:txBody>
          <a:bodyPr wrap="square" lIns="0" tIns="0" rIns="0" bIns="0" rtlCol="0" anchor="ctr"/>
          <a:lstStyle/>
          <a:p>
            <a:pPr algn="ctr" indent="0" marL="0">
              <a:buNone/>
            </a:pPr>
            <a:r>
              <a:rPr lang="en-US" sz="1300" b="1" dirty="0">
                <a:solidFill>
                  <a:schemeClr val="accent6"/>
                </a:solidFill>
              </a:rPr>
              <a:t>Explain</a:t>
            </a:r>
            <a:endParaRPr lang="en-US" sz="1300" dirty="0"/>
          </a:p>
        </p:txBody>
      </p:sp>
      <p:sp>
        <p:nvSpPr>
          <p:cNvPr id="25" name="Guardian agent"/>
          <p:cNvSpPr/>
          <p:nvPr/>
        </p:nvSpPr>
        <p:spPr>
          <a:xfrm>
            <a:off x="7223760" y="2286000"/>
            <a:ext cx="1463040" cy="731520"/>
          </a:xfrm>
          <a:prstGeom prst="roundRect">
            <a:avLst>
              <a:gd name="adj" fmla="val 12500"/>
            </a:avLst>
          </a:prstGeom>
          <a:solidFill>
            <a:schemeClr val="bg2"/>
          </a:solidFill>
          <a:ln w="15875">
            <a:solidFill>
              <a:schemeClr val="accent6"/>
            </a:solidFill>
            <a:prstDash val="solid"/>
          </a:ln>
        </p:spPr>
      </p:sp>
      <p:sp>
        <p:nvSpPr>
          <p:cNvPr id="26" name="Text 24"/>
          <p:cNvSpPr txBox="1"/>
          <p:nvPr/>
        </p:nvSpPr>
        <p:spPr>
          <a:xfrm>
            <a:off x="7223760" y="2286000"/>
            <a:ext cx="1463040" cy="731520"/>
          </a:xfrm>
          <a:prstGeom prst="rect">
            <a:avLst/>
          </a:prstGeom>
          <a:noFill/>
          <a:ln/>
        </p:spPr>
        <p:txBody>
          <a:bodyPr wrap="square" lIns="0" tIns="0" rIns="0" bIns="0" rtlCol="0" anchor="ctr"/>
          <a:lstStyle/>
          <a:p>
            <a:pPr algn="ctr" indent="0" marL="0">
              <a:buNone/>
            </a:pPr>
            <a:r>
              <a:rPr lang="en-US" sz="1300" b="1" dirty="0">
                <a:solidFill>
                  <a:schemeClr val="accent6"/>
                </a:solidFill>
              </a:rPr>
              <a:t>Guardian agent</a:t>
            </a:r>
            <a:endParaRPr lang="en-US" sz="1300" dirty="0"/>
          </a:p>
        </p:txBody>
      </p:sp>
      <p:sp>
        <p:nvSpPr>
          <p:cNvPr id="27" name="Drift watchdog"/>
          <p:cNvSpPr/>
          <p:nvPr/>
        </p:nvSpPr>
        <p:spPr>
          <a:xfrm>
            <a:off x="7223760" y="3291840"/>
            <a:ext cx="1463040" cy="731520"/>
          </a:xfrm>
          <a:prstGeom prst="roundRect">
            <a:avLst>
              <a:gd name="adj" fmla="val 12500"/>
            </a:avLst>
          </a:prstGeom>
          <a:solidFill>
            <a:schemeClr val="bg2"/>
          </a:solidFill>
          <a:ln w="15875">
            <a:solidFill>
              <a:schemeClr val="accent6"/>
            </a:solidFill>
            <a:prstDash val="solid"/>
          </a:ln>
        </p:spPr>
      </p:sp>
      <p:sp>
        <p:nvSpPr>
          <p:cNvPr id="28" name="Text 26"/>
          <p:cNvSpPr txBox="1"/>
          <p:nvPr/>
        </p:nvSpPr>
        <p:spPr>
          <a:xfrm>
            <a:off x="7223760" y="3291840"/>
            <a:ext cx="1463040" cy="731520"/>
          </a:xfrm>
          <a:prstGeom prst="rect">
            <a:avLst/>
          </a:prstGeom>
          <a:noFill/>
          <a:ln/>
        </p:spPr>
        <p:txBody>
          <a:bodyPr wrap="square" lIns="0" tIns="0" rIns="0" bIns="0" rtlCol="0" anchor="ctr"/>
          <a:lstStyle/>
          <a:p>
            <a:pPr algn="ctr" indent="0" marL="0">
              <a:buNone/>
            </a:pPr>
            <a:r>
              <a:rPr lang="en-US" sz="1300" b="1" dirty="0">
                <a:solidFill>
                  <a:schemeClr val="accent6"/>
                </a:solidFill>
              </a:rPr>
              <a:t>Drift watchdog</a:t>
            </a:r>
            <a:endParaRPr lang="en-US" sz="1300" dirty="0"/>
          </a:p>
        </p:txBody>
      </p:sp>
      <p:sp>
        <p:nvSpPr>
          <p:cNvPr id="29" name="Text 27"/>
          <p:cNvSpPr txBox="1"/>
          <p:nvPr/>
        </p:nvSpPr>
        <p:spPr>
          <a:xfrm>
            <a:off x="457200" y="4160520"/>
            <a:ext cx="8229600" cy="502920"/>
          </a:xfrm>
          <a:prstGeom prst="rect">
            <a:avLst/>
          </a:prstGeom>
          <a:noFill/>
          <a:ln/>
        </p:spPr>
        <p:txBody>
          <a:bodyPr wrap="square" lIns="0" tIns="0" rIns="0" bIns="0" rtlCol="0" anchor="t"/>
          <a:lstStyle/>
          <a:p>
            <a:pPr indent="0" marL="0">
              <a:buNone/>
            </a:pPr>
            <a:r>
              <a:rPr lang="en-US" sz="1200" dirty="0">
                <a:solidFill>
                  <a:schemeClr val="tx2"/>
                </a:solidFill>
              </a:rPr>
              <a:t>Brain 1 never sees an attack, so it flags anything strange (zero-days). Brain 2 recognises known attacks by name. Fusion adds a check that turns never-seen patterns into 'unknown anomaly'.</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Six ideas that make it different</a:t>
            </a:r>
            <a:endParaRPr lang="en-US" sz="3200" dirty="0"/>
          </a:p>
        </p:txBody>
      </p:sp>
      <p:sp>
        <p:nvSpPr>
          <p:cNvPr id="3" name="idea card"/>
          <p:cNvSpPr/>
          <p:nvPr/>
        </p:nvSpPr>
        <p:spPr>
          <a:xfrm>
            <a:off x="457200" y="1143000"/>
            <a:ext cx="2651760" cy="1554480"/>
          </a:xfrm>
          <a:prstGeom prst="roundRect">
            <a:avLst>
              <a:gd name="adj" fmla="val 7059"/>
            </a:avLst>
          </a:prstGeom>
          <a:solidFill>
            <a:schemeClr val="bg2"/>
          </a:solidFill>
          <a:ln w="9525">
            <a:solidFill>
              <a:schemeClr val="accent5"/>
            </a:solidFill>
            <a:prstDash val="solid"/>
          </a:ln>
        </p:spPr>
      </p:sp>
      <p:sp>
        <p:nvSpPr>
          <p:cNvPr id="4" name="Dual-Brain badge"/>
          <p:cNvSpPr/>
          <p:nvPr/>
        </p:nvSpPr>
        <p:spPr>
          <a:xfrm>
            <a:off x="640080" y="1325880"/>
            <a:ext cx="457200" cy="457200"/>
          </a:xfrm>
          <a:prstGeom prst="ellipse">
            <a:avLst/>
          </a:prstGeom>
          <a:solidFill>
            <a:schemeClr val="accent1"/>
          </a:solidFill>
          <a:ln w="6350">
            <a:solidFill>
              <a:schemeClr val="accent1"/>
            </a:solidFill>
            <a:prstDash val="solid"/>
          </a:ln>
        </p:spPr>
      </p:sp>
      <p:pic>
        <p:nvPicPr>
          <p:cNvPr id="5" name="Image 0" descr="Dual-Brain">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34440" y="1325880"/>
            <a:ext cx="1783080" cy="457200"/>
          </a:xfrm>
          <a:prstGeom prst="rect">
            <a:avLst/>
          </a:prstGeom>
          <a:noFill/>
          <a:ln/>
        </p:spPr>
        <p:txBody>
          <a:bodyPr wrap="square" lIns="0" tIns="0" rIns="0" bIns="0" rtlCol="0" anchor="ctr"/>
          <a:lstStyle/>
          <a:p>
            <a:pPr indent="0" marL="0">
              <a:buNone/>
            </a:pPr>
            <a:r>
              <a:rPr lang="en-US" sz="1600" b="1" dirty="0">
                <a:solidFill>
                  <a:schemeClr val="tx1"/>
                </a:solidFill>
              </a:rPr>
              <a:t>Dual-Brain</a:t>
            </a:r>
            <a:endParaRPr lang="en-US" sz="1600" dirty="0"/>
          </a:p>
        </p:txBody>
      </p:sp>
      <p:sp>
        <p:nvSpPr>
          <p:cNvPr id="7" name="Text 4"/>
          <p:cNvSpPr txBox="1"/>
          <p:nvPr/>
        </p:nvSpPr>
        <p:spPr>
          <a:xfrm>
            <a:off x="640080" y="1920240"/>
            <a:ext cx="2331720" cy="685800"/>
          </a:xfrm>
          <a:prstGeom prst="rect">
            <a:avLst/>
          </a:prstGeom>
          <a:noFill/>
          <a:ln/>
        </p:spPr>
        <p:txBody>
          <a:bodyPr wrap="square" lIns="0" tIns="0" rIns="0" bIns="0" rtlCol="0" anchor="t"/>
          <a:lstStyle/>
          <a:p>
            <a:pPr indent="0" marL="0">
              <a:buNone/>
            </a:pPr>
            <a:r>
              <a:rPr lang="en-US" sz="1300" dirty="0">
                <a:solidFill>
                  <a:schemeClr val="tx1"/>
                </a:solidFill>
              </a:rPr>
              <a:t>Unsupervised and supervised networks fused into one 0-100 risk score.</a:t>
            </a:r>
            <a:endParaRPr lang="en-US" sz="1300" dirty="0"/>
          </a:p>
        </p:txBody>
      </p:sp>
      <p:sp>
        <p:nvSpPr>
          <p:cNvPr id="8" name="idea card"/>
          <p:cNvSpPr/>
          <p:nvPr/>
        </p:nvSpPr>
        <p:spPr>
          <a:xfrm>
            <a:off x="3246120" y="1143000"/>
            <a:ext cx="2651760" cy="1554480"/>
          </a:xfrm>
          <a:prstGeom prst="roundRect">
            <a:avLst>
              <a:gd name="adj" fmla="val 7059"/>
            </a:avLst>
          </a:prstGeom>
          <a:solidFill>
            <a:schemeClr val="bg2"/>
          </a:solidFill>
          <a:ln w="9525">
            <a:solidFill>
              <a:schemeClr val="accent5"/>
            </a:solidFill>
            <a:prstDash val="solid"/>
          </a:ln>
        </p:spPr>
      </p:sp>
      <p:sp>
        <p:nvSpPr>
          <p:cNvPr id="9" name="Zero-day safety net badge"/>
          <p:cNvSpPr/>
          <p:nvPr/>
        </p:nvSpPr>
        <p:spPr>
          <a:xfrm>
            <a:off x="3429000" y="1325880"/>
            <a:ext cx="457200" cy="457200"/>
          </a:xfrm>
          <a:prstGeom prst="ellipse">
            <a:avLst/>
          </a:prstGeom>
          <a:solidFill>
            <a:schemeClr val="accent1"/>
          </a:solidFill>
          <a:ln w="6350">
            <a:solidFill>
              <a:schemeClr val="accent1"/>
            </a:solidFill>
            <a:prstDash val="solid"/>
          </a:ln>
        </p:spPr>
      </p:sp>
      <p:pic>
        <p:nvPicPr>
          <p:cNvPr id="10" name="Image 1" descr="Zero-day safety net">    </p:cNvPr>
          <p:cNvPicPr>
            <a:picLocks noChangeAspect="1"/>
          </p:cNvPicPr>
          <p:nvPr/>
        </p:nvPicPr>
        <p:blipFill>
          <a:blip r:embed="rId2"/>
          <a:stretch>
            <a:fillRect/>
          </a:stretch>
        </p:blipFill>
        <p:spPr>
          <a:xfrm>
            <a:off x="3543300" y="1440180"/>
            <a:ext cx="228600" cy="228600"/>
          </a:xfrm>
          <a:prstGeom prst="rect">
            <a:avLst/>
          </a:prstGeom>
        </p:spPr>
      </p:pic>
      <p:sp>
        <p:nvSpPr>
          <p:cNvPr id="11" name="Text 7"/>
          <p:cNvSpPr txBox="1"/>
          <p:nvPr/>
        </p:nvSpPr>
        <p:spPr>
          <a:xfrm>
            <a:off x="4023360" y="1325880"/>
            <a:ext cx="1783080" cy="457200"/>
          </a:xfrm>
          <a:prstGeom prst="rect">
            <a:avLst/>
          </a:prstGeom>
          <a:noFill/>
          <a:ln/>
        </p:spPr>
        <p:txBody>
          <a:bodyPr wrap="square" lIns="0" tIns="0" rIns="0" bIns="0" rtlCol="0" anchor="ctr"/>
          <a:lstStyle/>
          <a:p>
            <a:pPr indent="0" marL="0">
              <a:buNone/>
            </a:pPr>
            <a:r>
              <a:rPr lang="en-US" sz="1600" b="1" dirty="0">
                <a:solidFill>
                  <a:schemeClr val="tx1"/>
                </a:solidFill>
              </a:rPr>
              <a:t>Zero-day safety net</a:t>
            </a:r>
            <a:endParaRPr lang="en-US" sz="1600" dirty="0"/>
          </a:p>
        </p:txBody>
      </p:sp>
      <p:sp>
        <p:nvSpPr>
          <p:cNvPr id="12" name="Text 8"/>
          <p:cNvSpPr txBox="1"/>
          <p:nvPr/>
        </p:nvSpPr>
        <p:spPr>
          <a:xfrm>
            <a:off x="3429000" y="1920240"/>
            <a:ext cx="2331720" cy="685800"/>
          </a:xfrm>
          <a:prstGeom prst="rect">
            <a:avLst/>
          </a:prstGeom>
          <a:noFill/>
          <a:ln/>
        </p:spPr>
        <p:txBody>
          <a:bodyPr wrap="square" lIns="0" tIns="0" rIns="0" bIns="0" rtlCol="0" anchor="t"/>
          <a:lstStyle/>
          <a:p>
            <a:pPr indent="0" marL="0">
              <a:buNone/>
            </a:pPr>
            <a:r>
              <a:rPr lang="en-US" sz="1300" dirty="0">
                <a:solidFill>
                  <a:schemeClr val="tx1"/>
                </a:solidFill>
              </a:rPr>
              <a:t>Never-seen patterns become 'unknown anomaly', never a wrong label.</a:t>
            </a:r>
            <a:endParaRPr lang="en-US" sz="1300" dirty="0"/>
          </a:p>
        </p:txBody>
      </p:sp>
      <p:sp>
        <p:nvSpPr>
          <p:cNvPr id="13" name="idea card"/>
          <p:cNvSpPr/>
          <p:nvPr/>
        </p:nvSpPr>
        <p:spPr>
          <a:xfrm>
            <a:off x="6035040" y="1143000"/>
            <a:ext cx="2651760" cy="1554480"/>
          </a:xfrm>
          <a:prstGeom prst="roundRect">
            <a:avLst>
              <a:gd name="adj" fmla="val 7059"/>
            </a:avLst>
          </a:prstGeom>
          <a:solidFill>
            <a:schemeClr val="bg2"/>
          </a:solidFill>
          <a:ln w="9525">
            <a:solidFill>
              <a:schemeClr val="accent5"/>
            </a:solidFill>
            <a:prstDash val="solid"/>
          </a:ln>
        </p:spPr>
      </p:sp>
      <p:sp>
        <p:nvSpPr>
          <p:cNvPr id="14" name="Explains itself badge"/>
          <p:cNvSpPr/>
          <p:nvPr/>
        </p:nvSpPr>
        <p:spPr>
          <a:xfrm>
            <a:off x="6217920" y="1325880"/>
            <a:ext cx="457200" cy="457200"/>
          </a:xfrm>
          <a:prstGeom prst="ellipse">
            <a:avLst/>
          </a:prstGeom>
          <a:solidFill>
            <a:schemeClr val="accent1"/>
          </a:solidFill>
          <a:ln w="6350">
            <a:solidFill>
              <a:schemeClr val="accent1"/>
            </a:solidFill>
            <a:prstDash val="solid"/>
          </a:ln>
        </p:spPr>
      </p:sp>
      <p:pic>
        <p:nvPicPr>
          <p:cNvPr id="15" name="Image 2" descr="Explains itself">    </p:cNvPr>
          <p:cNvPicPr>
            <a:picLocks noChangeAspect="1"/>
          </p:cNvPicPr>
          <p:nvPr/>
        </p:nvPicPr>
        <p:blipFill>
          <a:blip r:embed="rId3"/>
          <a:stretch>
            <a:fillRect/>
          </a:stretch>
        </p:blipFill>
        <p:spPr>
          <a:xfrm>
            <a:off x="6332220" y="1440180"/>
            <a:ext cx="228600" cy="228600"/>
          </a:xfrm>
          <a:prstGeom prst="rect">
            <a:avLst/>
          </a:prstGeom>
        </p:spPr>
      </p:pic>
      <p:sp>
        <p:nvSpPr>
          <p:cNvPr id="16" name="Text 11"/>
          <p:cNvSpPr txBox="1"/>
          <p:nvPr/>
        </p:nvSpPr>
        <p:spPr>
          <a:xfrm>
            <a:off x="6812280" y="1325880"/>
            <a:ext cx="1783080" cy="457200"/>
          </a:xfrm>
          <a:prstGeom prst="rect">
            <a:avLst/>
          </a:prstGeom>
          <a:noFill/>
          <a:ln/>
        </p:spPr>
        <p:txBody>
          <a:bodyPr wrap="square" lIns="0" tIns="0" rIns="0" bIns="0" rtlCol="0" anchor="ctr"/>
          <a:lstStyle/>
          <a:p>
            <a:pPr indent="0" marL="0">
              <a:buNone/>
            </a:pPr>
            <a:r>
              <a:rPr lang="en-US" sz="1600" b="1" dirty="0">
                <a:solidFill>
                  <a:schemeClr val="tx1"/>
                </a:solidFill>
              </a:rPr>
              <a:t>Explains itself</a:t>
            </a:r>
            <a:endParaRPr lang="en-US" sz="1600" dirty="0"/>
          </a:p>
        </p:txBody>
      </p:sp>
      <p:sp>
        <p:nvSpPr>
          <p:cNvPr id="17" name="Text 12"/>
          <p:cNvSpPr txBox="1"/>
          <p:nvPr/>
        </p:nvSpPr>
        <p:spPr>
          <a:xfrm>
            <a:off x="6217920" y="1920240"/>
            <a:ext cx="2331720" cy="685800"/>
          </a:xfrm>
          <a:prstGeom prst="rect">
            <a:avLst/>
          </a:prstGeom>
          <a:noFill/>
          <a:ln/>
        </p:spPr>
        <p:txBody>
          <a:bodyPr wrap="square" lIns="0" tIns="0" rIns="0" bIns="0" rtlCol="0" anchor="t"/>
          <a:lstStyle/>
          <a:p>
            <a:pPr indent="0" marL="0">
              <a:buNone/>
            </a:pPr>
            <a:r>
              <a:rPr lang="en-US" sz="1300" dirty="0">
                <a:solidFill>
                  <a:schemeClr val="tx1"/>
                </a:solidFill>
              </a:rPr>
              <a:t>Every alert names the metrics that caused it.</a:t>
            </a:r>
            <a:endParaRPr lang="en-US" sz="1300" dirty="0"/>
          </a:p>
        </p:txBody>
      </p:sp>
      <p:sp>
        <p:nvSpPr>
          <p:cNvPr id="18" name="idea card"/>
          <p:cNvSpPr/>
          <p:nvPr/>
        </p:nvSpPr>
        <p:spPr>
          <a:xfrm>
            <a:off x="457200" y="2880360"/>
            <a:ext cx="2651760" cy="1554480"/>
          </a:xfrm>
          <a:prstGeom prst="roundRect">
            <a:avLst>
              <a:gd name="adj" fmla="val 7059"/>
            </a:avLst>
          </a:prstGeom>
          <a:solidFill>
            <a:schemeClr val="bg2"/>
          </a:solidFill>
          <a:ln w="9525">
            <a:solidFill>
              <a:schemeClr val="accent5"/>
            </a:solidFill>
            <a:prstDash val="solid"/>
          </a:ln>
        </p:spPr>
      </p:sp>
      <p:sp>
        <p:nvSpPr>
          <p:cNvPr id="19" name="Guardian agent badge"/>
          <p:cNvSpPr/>
          <p:nvPr/>
        </p:nvSpPr>
        <p:spPr>
          <a:xfrm>
            <a:off x="640080" y="3063240"/>
            <a:ext cx="457200" cy="457200"/>
          </a:xfrm>
          <a:prstGeom prst="ellipse">
            <a:avLst/>
          </a:prstGeom>
          <a:solidFill>
            <a:schemeClr val="accent1"/>
          </a:solidFill>
          <a:ln w="6350">
            <a:solidFill>
              <a:schemeClr val="accent1"/>
            </a:solidFill>
            <a:prstDash val="solid"/>
          </a:ln>
        </p:spPr>
      </p:sp>
      <p:pic>
        <p:nvPicPr>
          <p:cNvPr id="20" name="Image 3" descr="Guardian agent">    </p:cNvPr>
          <p:cNvPicPr>
            <a:picLocks noChangeAspect="1"/>
          </p:cNvPicPr>
          <p:nvPr/>
        </p:nvPicPr>
        <p:blipFill>
          <a:blip r:embed="rId4"/>
          <a:stretch>
            <a:fillRect/>
          </a:stretch>
        </p:blipFill>
        <p:spPr>
          <a:xfrm>
            <a:off x="754380" y="3177540"/>
            <a:ext cx="228600" cy="228600"/>
          </a:xfrm>
          <a:prstGeom prst="rect">
            <a:avLst/>
          </a:prstGeom>
        </p:spPr>
      </p:pic>
      <p:sp>
        <p:nvSpPr>
          <p:cNvPr id="21" name="Text 15"/>
          <p:cNvSpPr txBox="1"/>
          <p:nvPr/>
        </p:nvSpPr>
        <p:spPr>
          <a:xfrm>
            <a:off x="1234440" y="3063240"/>
            <a:ext cx="1783080" cy="457200"/>
          </a:xfrm>
          <a:prstGeom prst="rect">
            <a:avLst/>
          </a:prstGeom>
          <a:noFill/>
          <a:ln/>
        </p:spPr>
        <p:txBody>
          <a:bodyPr wrap="square" lIns="0" tIns="0" rIns="0" bIns="0" rtlCol="0" anchor="ctr"/>
          <a:lstStyle/>
          <a:p>
            <a:pPr indent="0" marL="0">
              <a:buNone/>
            </a:pPr>
            <a:r>
              <a:rPr lang="en-US" sz="1600" b="1" dirty="0">
                <a:solidFill>
                  <a:schemeClr val="tx1"/>
                </a:solidFill>
              </a:rPr>
              <a:t>Guardian agent</a:t>
            </a:r>
            <a:endParaRPr lang="en-US" sz="1600" dirty="0"/>
          </a:p>
        </p:txBody>
      </p:sp>
      <p:sp>
        <p:nvSpPr>
          <p:cNvPr id="22" name="Text 16"/>
          <p:cNvSpPr txBox="1"/>
          <p:nvPr/>
        </p:nvSpPr>
        <p:spPr>
          <a:xfrm>
            <a:off x="640080" y="3657600"/>
            <a:ext cx="2331720" cy="685800"/>
          </a:xfrm>
          <a:prstGeom prst="rect">
            <a:avLst/>
          </a:prstGeom>
          <a:noFill/>
          <a:ln/>
        </p:spPr>
        <p:txBody>
          <a:bodyPr wrap="square" lIns="0" tIns="0" rIns="0" bIns="0" rtlCol="0" anchor="t"/>
          <a:lstStyle/>
          <a:p>
            <a:pPr indent="0" marL="0">
              <a:buNone/>
            </a:pPr>
            <a:r>
              <a:rPr lang="en-US" sz="1300" dirty="0">
                <a:solidFill>
                  <a:schemeClr val="tx1"/>
                </a:solidFill>
              </a:rPr>
              <a:t>Safe actions auto-run. Risky ones wait for a human.</a:t>
            </a:r>
            <a:endParaRPr lang="en-US" sz="1300" dirty="0"/>
          </a:p>
        </p:txBody>
      </p:sp>
      <p:sp>
        <p:nvSpPr>
          <p:cNvPr id="23" name="idea card"/>
          <p:cNvSpPr/>
          <p:nvPr/>
        </p:nvSpPr>
        <p:spPr>
          <a:xfrm>
            <a:off x="3246120" y="2880360"/>
            <a:ext cx="2651760" cy="1554480"/>
          </a:xfrm>
          <a:prstGeom prst="roundRect">
            <a:avLst>
              <a:gd name="adj" fmla="val 7059"/>
            </a:avLst>
          </a:prstGeom>
          <a:solidFill>
            <a:schemeClr val="bg2"/>
          </a:solidFill>
          <a:ln w="9525">
            <a:solidFill>
              <a:schemeClr val="accent5"/>
            </a:solidFill>
            <a:prstDash val="solid"/>
          </a:ln>
        </p:spPr>
      </p:sp>
      <p:sp>
        <p:nvSpPr>
          <p:cNvPr id="24" name="Drift watchdog badge"/>
          <p:cNvSpPr/>
          <p:nvPr/>
        </p:nvSpPr>
        <p:spPr>
          <a:xfrm>
            <a:off x="3429000" y="3063240"/>
            <a:ext cx="457200" cy="457200"/>
          </a:xfrm>
          <a:prstGeom prst="ellipse">
            <a:avLst/>
          </a:prstGeom>
          <a:solidFill>
            <a:schemeClr val="accent1"/>
          </a:solidFill>
          <a:ln w="6350">
            <a:solidFill>
              <a:schemeClr val="accent1"/>
            </a:solidFill>
            <a:prstDash val="solid"/>
          </a:ln>
        </p:spPr>
      </p:sp>
      <p:pic>
        <p:nvPicPr>
          <p:cNvPr id="25" name="Image 4" descr="Drift watchdog">    </p:cNvPr>
          <p:cNvPicPr>
            <a:picLocks noChangeAspect="1"/>
          </p:cNvPicPr>
          <p:nvPr/>
        </p:nvPicPr>
        <p:blipFill>
          <a:blip r:embed="rId5"/>
          <a:stretch>
            <a:fillRect/>
          </a:stretch>
        </p:blipFill>
        <p:spPr>
          <a:xfrm>
            <a:off x="3543300" y="3177540"/>
            <a:ext cx="228600" cy="228600"/>
          </a:xfrm>
          <a:prstGeom prst="rect">
            <a:avLst/>
          </a:prstGeom>
        </p:spPr>
      </p:pic>
      <p:sp>
        <p:nvSpPr>
          <p:cNvPr id="26" name="Text 19"/>
          <p:cNvSpPr txBox="1"/>
          <p:nvPr/>
        </p:nvSpPr>
        <p:spPr>
          <a:xfrm>
            <a:off x="4023360" y="3063240"/>
            <a:ext cx="1783080" cy="457200"/>
          </a:xfrm>
          <a:prstGeom prst="rect">
            <a:avLst/>
          </a:prstGeom>
          <a:noFill/>
          <a:ln/>
        </p:spPr>
        <p:txBody>
          <a:bodyPr wrap="square" lIns="0" tIns="0" rIns="0" bIns="0" rtlCol="0" anchor="ctr"/>
          <a:lstStyle/>
          <a:p>
            <a:pPr indent="0" marL="0">
              <a:buNone/>
            </a:pPr>
            <a:r>
              <a:rPr lang="en-US" sz="1600" b="1" dirty="0">
                <a:solidFill>
                  <a:schemeClr val="tx1"/>
                </a:solidFill>
              </a:rPr>
              <a:t>Drift watchdog</a:t>
            </a:r>
            <a:endParaRPr lang="en-US" sz="1600" dirty="0"/>
          </a:p>
        </p:txBody>
      </p:sp>
      <p:sp>
        <p:nvSpPr>
          <p:cNvPr id="27" name="Text 20"/>
          <p:cNvSpPr txBox="1"/>
          <p:nvPr/>
        </p:nvSpPr>
        <p:spPr>
          <a:xfrm>
            <a:off x="3429000" y="3657600"/>
            <a:ext cx="2331720" cy="685800"/>
          </a:xfrm>
          <a:prstGeom prst="rect">
            <a:avLst/>
          </a:prstGeom>
          <a:noFill/>
          <a:ln/>
        </p:spPr>
        <p:txBody>
          <a:bodyPr wrap="square" lIns="0" tIns="0" rIns="0" bIns="0" rtlCol="0" anchor="t"/>
          <a:lstStyle/>
          <a:p>
            <a:pPr indent="0" marL="0">
              <a:buNone/>
            </a:pPr>
            <a:r>
              <a:rPr lang="en-US" sz="1300" dirty="0">
                <a:solidFill>
                  <a:schemeClr val="tx1"/>
                </a:solidFill>
              </a:rPr>
              <a:t>A PSI monitor says when the model needs retraining.</a:t>
            </a:r>
            <a:endParaRPr lang="en-US" sz="1300" dirty="0"/>
          </a:p>
        </p:txBody>
      </p:sp>
      <p:sp>
        <p:nvSpPr>
          <p:cNvPr id="28" name="idea card"/>
          <p:cNvSpPr/>
          <p:nvPr/>
        </p:nvSpPr>
        <p:spPr>
          <a:xfrm>
            <a:off x="6035040" y="2880360"/>
            <a:ext cx="2651760" cy="1554480"/>
          </a:xfrm>
          <a:prstGeom prst="roundRect">
            <a:avLst>
              <a:gd name="adj" fmla="val 7059"/>
            </a:avLst>
          </a:prstGeom>
          <a:solidFill>
            <a:schemeClr val="bg2"/>
          </a:solidFill>
          <a:ln w="9525">
            <a:solidFill>
              <a:schemeClr val="accent5"/>
            </a:solidFill>
            <a:prstDash val="solid"/>
          </a:ln>
        </p:spPr>
      </p:sp>
      <p:sp>
        <p:nvSpPr>
          <p:cNvPr id="29" name="Edge-ready badge"/>
          <p:cNvSpPr/>
          <p:nvPr/>
        </p:nvSpPr>
        <p:spPr>
          <a:xfrm>
            <a:off x="6217920" y="3063240"/>
            <a:ext cx="457200" cy="457200"/>
          </a:xfrm>
          <a:prstGeom prst="ellipse">
            <a:avLst/>
          </a:prstGeom>
          <a:solidFill>
            <a:schemeClr val="accent1"/>
          </a:solidFill>
          <a:ln w="6350">
            <a:solidFill>
              <a:schemeClr val="accent1"/>
            </a:solidFill>
            <a:prstDash val="solid"/>
          </a:ln>
        </p:spPr>
      </p:sp>
      <p:pic>
        <p:nvPicPr>
          <p:cNvPr id="30" name="Image 5" descr="Edge-ready">    </p:cNvPr>
          <p:cNvPicPr>
            <a:picLocks noChangeAspect="1"/>
          </p:cNvPicPr>
          <p:nvPr/>
        </p:nvPicPr>
        <p:blipFill>
          <a:blip r:embed="rId6"/>
          <a:stretch>
            <a:fillRect/>
          </a:stretch>
        </p:blipFill>
        <p:spPr>
          <a:xfrm>
            <a:off x="6332220" y="3177540"/>
            <a:ext cx="228600" cy="228600"/>
          </a:xfrm>
          <a:prstGeom prst="rect">
            <a:avLst/>
          </a:prstGeom>
        </p:spPr>
      </p:pic>
      <p:sp>
        <p:nvSpPr>
          <p:cNvPr id="31" name="Text 23"/>
          <p:cNvSpPr txBox="1"/>
          <p:nvPr/>
        </p:nvSpPr>
        <p:spPr>
          <a:xfrm>
            <a:off x="6812280" y="3063240"/>
            <a:ext cx="1783080" cy="457200"/>
          </a:xfrm>
          <a:prstGeom prst="rect">
            <a:avLst/>
          </a:prstGeom>
          <a:noFill/>
          <a:ln/>
        </p:spPr>
        <p:txBody>
          <a:bodyPr wrap="square" lIns="0" tIns="0" rIns="0" bIns="0" rtlCol="0" anchor="ctr"/>
          <a:lstStyle/>
          <a:p>
            <a:pPr indent="0" marL="0">
              <a:buNone/>
            </a:pPr>
            <a:r>
              <a:rPr lang="en-US" sz="1600" b="1" dirty="0">
                <a:solidFill>
                  <a:schemeClr val="tx1"/>
                </a:solidFill>
              </a:rPr>
              <a:t>Edge-ready</a:t>
            </a:r>
            <a:endParaRPr lang="en-US" sz="1600" dirty="0"/>
          </a:p>
        </p:txBody>
      </p:sp>
      <p:sp>
        <p:nvSpPr>
          <p:cNvPr id="32" name="Text 24"/>
          <p:cNvSpPr txBox="1"/>
          <p:nvPr/>
        </p:nvSpPr>
        <p:spPr>
          <a:xfrm>
            <a:off x="6217920" y="3657600"/>
            <a:ext cx="2331720" cy="685800"/>
          </a:xfrm>
          <a:prstGeom prst="rect">
            <a:avLst/>
          </a:prstGeom>
          <a:noFill/>
          <a:ln/>
        </p:spPr>
        <p:txBody>
          <a:bodyPr wrap="square" lIns="0" tIns="0" rIns="0" bIns="0" rtlCol="0" anchor="t"/>
          <a:lstStyle/>
          <a:p>
            <a:pPr indent="0" marL="0">
              <a:buNone/>
            </a:pPr>
            <a:r>
              <a:rPr lang="en-US" sz="1300" dirty="0">
                <a:solidFill>
                  <a:schemeClr val="tx1"/>
                </a:solidFill>
              </a:rPr>
              <a:t>34 KB, 0.004 ms per window. Fits a Raspberry Pi.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 realistic test bench</a:t>
            </a:r>
            <a:endParaRPr lang="en-US" sz="3200" dirty="0"/>
          </a:p>
        </p:txBody>
      </p:sp>
      <p:sp>
        <p:nvSpPr>
          <p:cNvPr id="3" name="Text 1"/>
          <p:cNvSpPr txBox="1"/>
          <p:nvPr/>
        </p:nvSpPr>
        <p:spPr>
          <a:xfrm>
            <a:off x="457200" y="1188720"/>
            <a:ext cx="1554480" cy="45720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28,800</a:t>
            </a:r>
            <a:endParaRPr lang="en-US" sz="2800" dirty="0"/>
          </a:p>
        </p:txBody>
      </p:sp>
      <p:sp>
        <p:nvSpPr>
          <p:cNvPr id="4" name="Text 2"/>
          <p:cNvSpPr txBox="1"/>
          <p:nvPr/>
        </p:nvSpPr>
        <p:spPr>
          <a:xfrm>
            <a:off x="2057400" y="1188720"/>
            <a:ext cx="1737360" cy="640080"/>
          </a:xfrm>
          <a:prstGeom prst="rect">
            <a:avLst/>
          </a:prstGeom>
          <a:noFill/>
          <a:ln/>
        </p:spPr>
        <p:txBody>
          <a:bodyPr wrap="square" lIns="0" tIns="0" rIns="0" bIns="0" rtlCol="0" anchor="ctr"/>
          <a:lstStyle/>
          <a:p>
            <a:pPr indent="0" marL="0">
              <a:buNone/>
            </a:pPr>
            <a:r>
              <a:rPr lang="en-US" sz="1300" dirty="0">
                <a:solidFill>
                  <a:schemeClr val="tx1"/>
                </a:solidFill>
              </a:rPr>
              <a:t>minutes of normal data to train Brain 1</a:t>
            </a:r>
            <a:endParaRPr lang="en-US" sz="1300" dirty="0"/>
          </a:p>
        </p:txBody>
      </p:sp>
      <p:sp>
        <p:nvSpPr>
          <p:cNvPr id="5" name="Text 3"/>
          <p:cNvSpPr txBox="1"/>
          <p:nvPr/>
        </p:nvSpPr>
        <p:spPr>
          <a:xfrm>
            <a:off x="457200" y="2057400"/>
            <a:ext cx="1554480" cy="45720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28,800</a:t>
            </a:r>
            <a:endParaRPr lang="en-US" sz="2800" dirty="0"/>
          </a:p>
        </p:txBody>
      </p:sp>
      <p:sp>
        <p:nvSpPr>
          <p:cNvPr id="6" name="Text 4"/>
          <p:cNvSpPr txBox="1"/>
          <p:nvPr/>
        </p:nvSpPr>
        <p:spPr>
          <a:xfrm>
            <a:off x="2057400" y="2057400"/>
            <a:ext cx="1737360" cy="640080"/>
          </a:xfrm>
          <a:prstGeom prst="rect">
            <a:avLst/>
          </a:prstGeom>
          <a:noFill/>
          <a:ln/>
        </p:spPr>
        <p:txBody>
          <a:bodyPr wrap="square" lIns="0" tIns="0" rIns="0" bIns="0" rtlCol="0" anchor="ctr"/>
          <a:lstStyle/>
          <a:p>
            <a:pPr indent="0" marL="0">
              <a:buNone/>
            </a:pPr>
            <a:r>
              <a:rPr lang="en-US" sz="1300" dirty="0">
                <a:solidFill>
                  <a:schemeClr val="tx1"/>
                </a:solidFill>
              </a:rPr>
              <a:t>minutes of labelled attacks for Brain 2</a:t>
            </a:r>
            <a:endParaRPr lang="en-US" sz="1300" dirty="0"/>
          </a:p>
        </p:txBody>
      </p:sp>
      <p:sp>
        <p:nvSpPr>
          <p:cNvPr id="7" name="Text 5"/>
          <p:cNvSpPr txBox="1"/>
          <p:nvPr/>
        </p:nvSpPr>
        <p:spPr>
          <a:xfrm>
            <a:off x="457200" y="2926080"/>
            <a:ext cx="1554480" cy="45720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14,400</a:t>
            </a:r>
            <a:endParaRPr lang="en-US" sz="2800" dirty="0"/>
          </a:p>
        </p:txBody>
      </p:sp>
      <p:sp>
        <p:nvSpPr>
          <p:cNvPr id="8" name="Text 6"/>
          <p:cNvSpPr txBox="1"/>
          <p:nvPr/>
        </p:nvSpPr>
        <p:spPr>
          <a:xfrm>
            <a:off x="2057400" y="2926080"/>
            <a:ext cx="1737360" cy="640080"/>
          </a:xfrm>
          <a:prstGeom prst="rect">
            <a:avLst/>
          </a:prstGeom>
          <a:noFill/>
          <a:ln/>
        </p:spPr>
        <p:txBody>
          <a:bodyPr wrap="square" lIns="0" tIns="0" rIns="0" bIns="0" rtlCol="0" anchor="ctr"/>
          <a:lstStyle/>
          <a:p>
            <a:pPr indent="0" marL="0">
              <a:buNone/>
            </a:pPr>
            <a:r>
              <a:rPr lang="en-US" sz="1300" dirty="0">
                <a:solidFill>
                  <a:schemeClr val="tx1"/>
                </a:solidFill>
              </a:rPr>
              <a:t>unseen test minutes, 37 attack episodes</a:t>
            </a:r>
            <a:endParaRPr lang="en-US" sz="1300" dirty="0"/>
          </a:p>
        </p:txBody>
      </p:sp>
      <p:sp>
        <p:nvSpPr>
          <p:cNvPr id="9" name="Text 7"/>
          <p:cNvSpPr txBox="1"/>
          <p:nvPr/>
        </p:nvSpPr>
        <p:spPr>
          <a:xfrm>
            <a:off x="457200" y="3840480"/>
            <a:ext cx="3383280" cy="7772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Daily load cycle, correlated metrics</a:t>
            </a:r>
            <a:endParaRPr lang="en-US" sz="1200" dirty="0"/>
          </a:p>
          <a:p>
            <a:pPr marL="342900" indent="-342900">
              <a:spcAft>
                <a:spcPts val="300"/>
              </a:spcAft>
              <a:buSzPct val="100000"/>
              <a:buChar char="•"/>
            </a:pPr>
            <a:r>
              <a:rPr lang="en-US" sz="1200" dirty="0">
                <a:solidFill>
                  <a:schemeClr val="tx2"/>
                </a:solidFill>
              </a:rPr>
              <a:t>Benign flash-crowds as hard negatives</a:t>
            </a:r>
            <a:endParaRPr lang="en-US" sz="1200" dirty="0"/>
          </a:p>
          <a:p>
            <a:pPr marL="342900" indent="-342900">
              <a:spcAft>
                <a:spcPts val="300"/>
              </a:spcAft>
              <a:buSzPct val="100000"/>
              <a:buChar char="•"/>
            </a:pPr>
            <a:r>
              <a:rPr lang="en-US" sz="1200" dirty="0">
                <a:solidFill>
                  <a:schemeClr val="tx2"/>
                </a:solidFill>
              </a:rPr>
              <a:t>Attack strength 40-100%: weak ones hide</a:t>
            </a:r>
            <a:endParaRPr lang="en-US" sz="1200" dirty="0"/>
          </a:p>
        </p:txBody>
      </p:sp>
      <p:graphicFrame>
        <p:nvGraphicFramePr>
          <p:cNvPr id="7" name="attack table"/>
          <p:cNvGraphicFramePr>
            <a:graphicFrameLocks noGrp="1"/>
          </p:cNvGraphicFramePr>
          <p:nvPr>
            <p:extLst>
              <p:ext uri="{D42A27DB-BD31-4B8C-83A1-F6EECF244321}">
                <p14:modId xmlns:p14="http://schemas.microsoft.com/office/powerpoint/2010/main" val="1579011935"/>
              </p:ext>
            </p:extLst>
          </p:nvPr>
        </p:nvGraphicFramePr>
        <p:xfrm>
          <a:off x="4114800" y="1188720"/>
          <a:ext cx="4572000" cy="914400"/>
        </p:xfrm>
        <a:graphic>
          <a:graphicData uri="http://schemas.openxmlformats.org/drawingml/2006/table">
            <a:tbl>
              <a:tblPr/>
              <a:tblGrid>
                <a:gridCol w="1280160"/>
                <a:gridCol w="3291840"/>
              </a:tblGrid>
              <a:tr h="411480">
                <a:tc>
                  <a:txBody>
                    <a:bodyPr/>
                    <a:lstStyle/>
                    <a:p>
                      <a:pPr indent="0" marL="0">
                        <a:buNone/>
                      </a:pPr>
                      <a:r>
                        <a:rPr lang="en-US" sz="1200" b="1" dirty="0">
                          <a:solidFill>
                            <a:srgbClr val="0A0F1F"/>
                          </a:solidFill>
                        </a:rPr>
                        <a:t>Attack</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1"/>
                    </a:solidFill>
                  </a:tcPr>
                </a:tc>
                <a:tc>
                  <a:txBody>
                    <a:bodyPr/>
                    <a:lstStyle/>
                    <a:p>
                      <a:pPr indent="0" marL="0">
                        <a:buNone/>
                      </a:pPr>
                      <a:r>
                        <a:rPr lang="en-US" sz="1200" b="1" dirty="0">
                          <a:solidFill>
                            <a:srgbClr val="0A0F1F"/>
                          </a:solidFill>
                        </a:rPr>
                        <a:t>Tell-tale metrics</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1"/>
                    </a:solidFill>
                  </a:tcPr>
                </a:tc>
              </a:tr>
              <a:tr h="411480">
                <a:tc>
                  <a:txBody>
                    <a:bodyPr/>
                    <a:lstStyle/>
                    <a:p>
                      <a:pPr indent="0" marL="0">
                        <a:buNone/>
                      </a:pPr>
                      <a:r>
                        <a:rPr lang="en-US" sz="1200" b="1" dirty="0">
                          <a:solidFill>
                            <a:schemeClr val="accent3"/>
                          </a:solidFill>
                        </a:rPr>
                        <a:t>Brute-force</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failed logins, connections up</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accent3"/>
                          </a:solidFill>
                        </a:rPr>
                        <a:t>DDoS</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inbound traffic, connections, HTTP 5xx up</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accent3"/>
                          </a:solidFill>
                        </a:rPr>
                        <a:t>Port scan</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unique ports way up, tiny packets</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accent3"/>
                          </a:solidFill>
                        </a:rPr>
                        <a:t>Exfiltration</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outbound traffic + DNS queries up</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accent3"/>
                          </a:solidFill>
                        </a:rPr>
                        <a:t>Cryptominer</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CPU and process count up</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accent3"/>
                          </a:solidFill>
                        </a:rPr>
                        <a:t>Ransomware</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file writes + disk I/O way up</a:t>
                      </a:r>
                      <a:endParaRPr lang="en-US" sz="12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Results on 10 unseen days</a:t>
            </a:r>
            <a:endParaRPr lang="en-US" sz="3200" dirty="0"/>
          </a:p>
        </p:txBody>
      </p:sp>
      <p:sp>
        <p:nvSpPr>
          <p:cNvPr id="3" name="result card"/>
          <p:cNvSpPr/>
          <p:nvPr/>
        </p:nvSpPr>
        <p:spPr>
          <a:xfrm>
            <a:off x="457200" y="1188720"/>
            <a:ext cx="1783080" cy="1417320"/>
          </a:xfrm>
          <a:prstGeom prst="roundRect">
            <a:avLst>
              <a:gd name="adj" fmla="val 7742"/>
            </a:avLst>
          </a:prstGeom>
          <a:solidFill>
            <a:schemeClr val="bg2"/>
          </a:solidFill>
          <a:ln w="9525">
            <a:solidFill>
              <a:schemeClr val="accent5"/>
            </a:solidFill>
            <a:prstDash val="solid"/>
          </a:ln>
        </p:spPr>
      </p:sp>
      <p:sp>
        <p:nvSpPr>
          <p:cNvPr id="4" name="Text 2"/>
          <p:cNvSpPr txBox="1"/>
          <p:nvPr/>
        </p:nvSpPr>
        <p:spPr>
          <a:xfrm>
            <a:off x="594360" y="1417320"/>
            <a:ext cx="15544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98.5%</a:t>
            </a:r>
            <a:endParaRPr lang="en-US" sz="2800" dirty="0"/>
          </a:p>
        </p:txBody>
      </p:sp>
      <p:sp>
        <p:nvSpPr>
          <p:cNvPr id="5" name="Text 3"/>
          <p:cNvSpPr txBox="1"/>
          <p:nvPr/>
        </p:nvSpPr>
        <p:spPr>
          <a:xfrm>
            <a:off x="594360" y="2057400"/>
            <a:ext cx="1554480" cy="457200"/>
          </a:xfrm>
          <a:prstGeom prst="rect">
            <a:avLst/>
          </a:prstGeom>
          <a:noFill/>
          <a:ln/>
        </p:spPr>
        <p:txBody>
          <a:bodyPr wrap="square" lIns="0" tIns="0" rIns="0" bIns="0" rtlCol="0" anchor="t"/>
          <a:lstStyle/>
          <a:p>
            <a:pPr indent="0" marL="0">
              <a:buNone/>
            </a:pPr>
            <a:r>
              <a:rPr lang="en-US" sz="1200" dirty="0">
                <a:solidFill>
                  <a:schemeClr val="tx1"/>
                </a:solidFill>
              </a:rPr>
              <a:t>attack-minute recall</a:t>
            </a:r>
            <a:endParaRPr lang="en-US" sz="1200" dirty="0"/>
          </a:p>
        </p:txBody>
      </p:sp>
      <p:sp>
        <p:nvSpPr>
          <p:cNvPr id="6" name="result card"/>
          <p:cNvSpPr/>
          <p:nvPr/>
        </p:nvSpPr>
        <p:spPr>
          <a:xfrm>
            <a:off x="2423160" y="1188720"/>
            <a:ext cx="1783080" cy="1417320"/>
          </a:xfrm>
          <a:prstGeom prst="roundRect">
            <a:avLst>
              <a:gd name="adj" fmla="val 7742"/>
            </a:avLst>
          </a:prstGeom>
          <a:solidFill>
            <a:schemeClr val="bg2"/>
          </a:solidFill>
          <a:ln w="9525">
            <a:solidFill>
              <a:schemeClr val="accent5"/>
            </a:solidFill>
            <a:prstDash val="solid"/>
          </a:ln>
        </p:spPr>
      </p:sp>
      <p:sp>
        <p:nvSpPr>
          <p:cNvPr id="7" name="Text 5"/>
          <p:cNvSpPr txBox="1"/>
          <p:nvPr/>
        </p:nvSpPr>
        <p:spPr>
          <a:xfrm>
            <a:off x="2560320" y="1417320"/>
            <a:ext cx="15544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0.98%</a:t>
            </a:r>
            <a:endParaRPr lang="en-US" sz="2800" dirty="0"/>
          </a:p>
        </p:txBody>
      </p:sp>
      <p:sp>
        <p:nvSpPr>
          <p:cNvPr id="8" name="Text 6"/>
          <p:cNvSpPr txBox="1"/>
          <p:nvPr/>
        </p:nvSpPr>
        <p:spPr>
          <a:xfrm>
            <a:off x="2560320" y="2057400"/>
            <a:ext cx="1554480" cy="457200"/>
          </a:xfrm>
          <a:prstGeom prst="rect">
            <a:avLst/>
          </a:prstGeom>
          <a:noFill/>
          <a:ln/>
        </p:spPr>
        <p:txBody>
          <a:bodyPr wrap="square" lIns="0" tIns="0" rIns="0" bIns="0" rtlCol="0" anchor="t"/>
          <a:lstStyle/>
          <a:p>
            <a:pPr indent="0" marL="0">
              <a:buNone/>
            </a:pPr>
            <a:r>
              <a:rPr lang="en-US" sz="1200" dirty="0">
                <a:solidFill>
                  <a:schemeClr val="tx1"/>
                </a:solidFill>
              </a:rPr>
              <a:t>false-alarm rate</a:t>
            </a:r>
            <a:endParaRPr lang="en-US" sz="1200" dirty="0"/>
          </a:p>
        </p:txBody>
      </p:sp>
      <p:sp>
        <p:nvSpPr>
          <p:cNvPr id="9" name="result card"/>
          <p:cNvSpPr/>
          <p:nvPr/>
        </p:nvSpPr>
        <p:spPr>
          <a:xfrm>
            <a:off x="457200" y="2788920"/>
            <a:ext cx="1783080" cy="1417320"/>
          </a:xfrm>
          <a:prstGeom prst="roundRect">
            <a:avLst>
              <a:gd name="adj" fmla="val 7742"/>
            </a:avLst>
          </a:prstGeom>
          <a:solidFill>
            <a:schemeClr val="bg2"/>
          </a:solidFill>
          <a:ln w="9525">
            <a:solidFill>
              <a:schemeClr val="accent5"/>
            </a:solidFill>
            <a:prstDash val="solid"/>
          </a:ln>
        </p:spPr>
      </p:sp>
      <p:sp>
        <p:nvSpPr>
          <p:cNvPr id="10" name="Text 8"/>
          <p:cNvSpPr txBox="1"/>
          <p:nvPr/>
        </p:nvSpPr>
        <p:spPr>
          <a:xfrm>
            <a:off x="594360" y="3017520"/>
            <a:ext cx="15544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37/37</a:t>
            </a:r>
            <a:endParaRPr lang="en-US" sz="2800" dirty="0"/>
          </a:p>
        </p:txBody>
      </p:sp>
      <p:sp>
        <p:nvSpPr>
          <p:cNvPr id="11" name="Text 9"/>
          <p:cNvSpPr txBox="1"/>
          <p:nvPr/>
        </p:nvSpPr>
        <p:spPr>
          <a:xfrm>
            <a:off x="594360" y="3657600"/>
            <a:ext cx="1554480" cy="457200"/>
          </a:xfrm>
          <a:prstGeom prst="rect">
            <a:avLst/>
          </a:prstGeom>
          <a:noFill/>
          <a:ln/>
        </p:spPr>
        <p:txBody>
          <a:bodyPr wrap="square" lIns="0" tIns="0" rIns="0" bIns="0" rtlCol="0" anchor="t"/>
          <a:lstStyle/>
          <a:p>
            <a:pPr indent="0" marL="0">
              <a:buNone/>
            </a:pPr>
            <a:r>
              <a:rPr lang="en-US" sz="1200" dirty="0">
                <a:solidFill>
                  <a:schemeClr val="tx1"/>
                </a:solidFill>
              </a:rPr>
              <a:t>attack episodes detected</a:t>
            </a:r>
            <a:endParaRPr lang="en-US" sz="1200" dirty="0"/>
          </a:p>
        </p:txBody>
      </p:sp>
      <p:sp>
        <p:nvSpPr>
          <p:cNvPr id="12" name="result card"/>
          <p:cNvSpPr/>
          <p:nvPr/>
        </p:nvSpPr>
        <p:spPr>
          <a:xfrm>
            <a:off x="2423160" y="2788920"/>
            <a:ext cx="1783080" cy="1417320"/>
          </a:xfrm>
          <a:prstGeom prst="roundRect">
            <a:avLst>
              <a:gd name="adj" fmla="val 7742"/>
            </a:avLst>
          </a:prstGeom>
          <a:solidFill>
            <a:schemeClr val="bg2"/>
          </a:solidFill>
          <a:ln w="9525">
            <a:solidFill>
              <a:schemeClr val="accent5"/>
            </a:solidFill>
            <a:prstDash val="solid"/>
          </a:ln>
        </p:spPr>
      </p:sp>
      <p:sp>
        <p:nvSpPr>
          <p:cNvPr id="13" name="Text 11"/>
          <p:cNvSpPr txBox="1"/>
          <p:nvPr/>
        </p:nvSpPr>
        <p:spPr>
          <a:xfrm>
            <a:off x="2560320" y="3017520"/>
            <a:ext cx="15544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0.2 min</a:t>
            </a:r>
            <a:endParaRPr lang="en-US" sz="2800" dirty="0"/>
          </a:p>
        </p:txBody>
      </p:sp>
      <p:sp>
        <p:nvSpPr>
          <p:cNvPr id="14" name="Text 12"/>
          <p:cNvSpPr txBox="1"/>
          <p:nvPr/>
        </p:nvSpPr>
        <p:spPr>
          <a:xfrm>
            <a:off x="2560320" y="3657600"/>
            <a:ext cx="1554480" cy="457200"/>
          </a:xfrm>
          <a:prstGeom prst="rect">
            <a:avLst/>
          </a:prstGeom>
          <a:noFill/>
          <a:ln/>
        </p:spPr>
        <p:txBody>
          <a:bodyPr wrap="square" lIns="0" tIns="0" rIns="0" bIns="0" rtlCol="0" anchor="t"/>
          <a:lstStyle/>
          <a:p>
            <a:pPr indent="0" marL="0">
              <a:buNone/>
            </a:pPr>
            <a:r>
              <a:rPr lang="en-US" sz="1200" dirty="0">
                <a:solidFill>
                  <a:schemeClr val="tx1"/>
                </a:solidFill>
              </a:rPr>
              <a:t>mean time to detect</a:t>
            </a:r>
            <a:endParaRPr lang="en-US" sz="1200" dirty="0"/>
          </a:p>
        </p:txBody>
      </p:sp>
      <p:pic>
        <p:nvPicPr>
          <p:cNvPr id="15" name="Image 0" descr="ROC curves comparing AegisNet, its two brains and Isolation Forest">    </p:cNvPr>
          <p:cNvPicPr>
            <a:picLocks noChangeAspect="1"/>
          </p:cNvPicPr>
          <p:nvPr/>
        </p:nvPicPr>
        <p:blipFill>
          <a:blip r:embed="rId1"/>
          <a:stretch>
            <a:fillRect/>
          </a:stretch>
        </p:blipFill>
        <p:spPr>
          <a:xfrm>
            <a:off x="4526280" y="1097280"/>
            <a:ext cx="4160520" cy="3189732"/>
          </a:xfrm>
          <a:prstGeom prst="rect">
            <a:avLst/>
          </a:prstGeom>
        </p:spPr>
      </p:pic>
      <p:sp>
        <p:nvSpPr>
          <p:cNvPr id="16" name="Text 13"/>
          <p:cNvSpPr txBox="1"/>
          <p:nvPr/>
        </p:nvSpPr>
        <p:spPr>
          <a:xfrm>
            <a:off x="4526280" y="4389120"/>
            <a:ext cx="4160520" cy="365760"/>
          </a:xfrm>
          <a:prstGeom prst="rect">
            <a:avLst/>
          </a:prstGeom>
          <a:noFill/>
          <a:ln/>
        </p:spPr>
        <p:txBody>
          <a:bodyPr wrap="square" lIns="0" tIns="0" rIns="0" bIns="0" rtlCol="0" anchor="t"/>
          <a:lstStyle/>
          <a:p>
            <a:pPr indent="0" marL="0">
              <a:buNone/>
            </a:pPr>
            <a:r>
              <a:rPr lang="en-US" sz="1000" dirty="0">
                <a:solidFill>
                  <a:schemeClr val="tx2"/>
                </a:solidFill>
              </a:rPr>
              <a:t>Fused AUC 0.995 vs Isolation-Forest baseline 0.890. Precision 83%: attacks are rare, so some alerts are false.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One day of live monitoring</a:t>
            </a:r>
            <a:endParaRPr lang="en-US" sz="3200" dirty="0"/>
          </a:p>
        </p:txBody>
      </p:sp>
      <p:pic>
        <p:nvPicPr>
          <p:cNvPr id="3" name="Image 0" descr="Risk score over 24 hours with real attacks shaded and alerts marked">    </p:cNvPr>
          <p:cNvPicPr>
            <a:picLocks noChangeAspect="1"/>
          </p:cNvPicPr>
          <p:nvPr/>
        </p:nvPicPr>
        <p:blipFill>
          <a:blip r:embed="rId1"/>
          <a:stretch>
            <a:fillRect/>
          </a:stretch>
        </p:blipFill>
        <p:spPr>
          <a:xfrm>
            <a:off x="457200" y="1097280"/>
            <a:ext cx="8229600" cy="2842953"/>
          </a:xfrm>
          <a:prstGeom prst="rect">
            <a:avLst/>
          </a:prstGeom>
        </p:spPr>
      </p:pic>
      <p:sp>
        <p:nvSpPr>
          <p:cNvPr id="4" name="Text 1"/>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400" dirty="0">
                <a:solidFill>
                  <a:schemeClr val="tx1"/>
                </a:solidFill>
              </a:rPr>
              <a:t>Red = real attacks. Amber dots = AegisNet alerts. Over 10 days it raised 40 incidents; only 3 had no real attack behind them.</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Zero-day test: the unseen ransomware</a:t>
            </a:r>
            <a:endParaRPr lang="en-US" sz="3200" dirty="0"/>
          </a:p>
        </p:txBody>
      </p:sp>
      <p:graphicFrame>
        <p:nvGraphicFramePr>
          <p:cNvPr id="3" name="Chart 0" descr=""/>
          <p:cNvGraphicFramePr/>
          <p:nvPr/>
        </p:nvGraphicFramePr>
        <p:xfrm>
          <a:off x="457200" y="114300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4" name="explanation card"/>
          <p:cNvSpPr/>
          <p:nvPr/>
        </p:nvSpPr>
        <p:spPr>
          <a:xfrm>
            <a:off x="5669280" y="1143000"/>
            <a:ext cx="3017520" cy="3383280"/>
          </a:xfrm>
          <a:prstGeom prst="roundRect">
            <a:avLst>
              <a:gd name="adj" fmla="val 3636"/>
            </a:avLst>
          </a:prstGeom>
          <a:solidFill>
            <a:schemeClr val="bg2"/>
          </a:solidFill>
          <a:ln w="9525">
            <a:solidFill>
              <a:schemeClr val="accent5"/>
            </a:solidFill>
            <a:prstDash val="solid"/>
          </a:ln>
        </p:spPr>
      </p:sp>
      <p:sp>
        <p:nvSpPr>
          <p:cNvPr id="5" name="Text 2"/>
          <p:cNvSpPr txBox="1"/>
          <p:nvPr/>
        </p:nvSpPr>
        <p:spPr>
          <a:xfrm>
            <a:off x="5852160" y="1325880"/>
            <a:ext cx="2651760" cy="3017520"/>
          </a:xfrm>
          <a:prstGeom prst="rect">
            <a:avLst/>
          </a:prstGeom>
          <a:noFill/>
          <a:ln/>
        </p:spPr>
        <p:txBody>
          <a:bodyPr wrap="square" lIns="0" tIns="0" rIns="0" bIns="0" rtlCol="0" anchor="t"/>
          <a:lstStyle/>
          <a:p>
            <a:pPr indent="0" marL="0">
              <a:spcAft>
                <a:spcPts val="200"/>
              </a:spcAft>
              <a:buNone/>
            </a:pPr>
            <a:r>
              <a:rPr lang="en-US" sz="1300" b="1" dirty="0">
                <a:solidFill>
                  <a:schemeClr val="accent1"/>
                </a:solidFill>
              </a:rPr>
              <a:t>Setup</a:t>
            </a:r>
            <a:endParaRPr lang="en-US" sz="1300" dirty="0"/>
          </a:p>
          <a:p>
            <a:pPr indent="0" marL="0">
              <a:spcAft>
                <a:spcPts val="200"/>
              </a:spcAft>
              <a:buNone/>
            </a:pPr>
            <a:r>
              <a:rPr lang="en-US" sz="1300" dirty="0">
                <a:solidFill>
                  <a:schemeClr val="tx1"/>
                </a:solidFill>
              </a:rPr>
              <a:t>Ransomware was removed from the classifier's training data.</a:t>
            </a:r>
            <a:endParaRPr lang="en-US" sz="1300" dirty="0"/>
          </a:p>
          <a:p>
            <a:pPr indent="0" marL="0">
              <a:spcAft>
                <a:spcPts val="200"/>
              </a:spcAft>
              <a:buNone/>
            </a:pPr>
            <a:r>
              <a:rPr lang="en-US" sz="600" dirty="0">
                <a:solidFill>
                  <a:schemeClr val="tx1"/>
                </a:solidFill>
              </a:rPr>
              <a:t> </a:t>
            </a:r>
            <a:endParaRPr lang="en-US" sz="1300" dirty="0"/>
          </a:p>
          <a:p>
            <a:pPr indent="0" marL="0">
              <a:spcAft>
                <a:spcPts val="200"/>
              </a:spcAft>
              <a:buNone/>
            </a:pPr>
            <a:r>
              <a:rPr lang="en-US" sz="1300" b="1" dirty="0">
                <a:solidFill>
                  <a:schemeClr val="accent1"/>
                </a:solidFill>
              </a:rPr>
              <a:t>Result</a:t>
            </a:r>
            <a:endParaRPr lang="en-US" sz="1300" dirty="0"/>
          </a:p>
          <a:p>
            <a:pPr indent="0" marL="0">
              <a:spcAft>
                <a:spcPts val="200"/>
              </a:spcAft>
              <a:buNone/>
            </a:pPr>
            <a:r>
              <a:rPr lang="en-US" sz="1300" dirty="0">
                <a:solidFill>
                  <a:schemeClr val="tx1"/>
                </a:solidFill>
              </a:rPr>
              <a:t>The classifier alone was blind (0%). AegisNet caught every minute and tagged it a new pattern instead of guessing a wrong name.</a:t>
            </a:r>
            <a:endParaRPr lang="en-US" sz="1300" dirty="0"/>
          </a:p>
          <a:p>
            <a:pPr indent="0" marL="0">
              <a:spcAft>
                <a:spcPts val="200"/>
              </a:spcAft>
              <a:buNone/>
            </a:pPr>
            <a:r>
              <a:rPr lang="en-US" sz="600" dirty="0">
                <a:solidFill>
                  <a:schemeClr val="tx1"/>
                </a:solidFill>
              </a:rPr>
              <a:t> </a:t>
            </a:r>
            <a:endParaRPr lang="en-US" sz="1300" dirty="0"/>
          </a:p>
          <a:p>
            <a:pPr indent="0" marL="0">
              <a:spcAft>
                <a:spcPts val="200"/>
              </a:spcAft>
              <a:buNone/>
            </a:pPr>
            <a:r>
              <a:rPr lang="en-US" sz="1300" b="1" dirty="0">
                <a:solidFill>
                  <a:schemeClr val="accent1"/>
                </a:solidFill>
              </a:rPr>
              <a:t>Why</a:t>
            </a:r>
            <a:endParaRPr lang="en-US" sz="1300" dirty="0"/>
          </a:p>
          <a:p>
            <a:pPr indent="0" marL="0">
              <a:spcAft>
                <a:spcPts val="200"/>
              </a:spcAft>
              <a:buNone/>
            </a:pPr>
            <a:r>
              <a:rPr lang="en-US" sz="1300" dirty="0">
                <a:solidFill>
                  <a:schemeClr val="tx1"/>
                </a:solidFill>
              </a:rPr>
              <a:t>Brain 1 only knows what normal looks like.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Every alert explains itself</a:t>
            </a:r>
            <a:endParaRPr lang="en-US" sz="3200" dirty="0"/>
          </a:p>
        </p:txBody>
      </p:sp>
      <p:pic>
        <p:nvPicPr>
          <p:cNvPr id="3" name="Image 0" descr="Bar charts of the metrics that caused a DDoS and a ransomware alert">    </p:cNvPr>
          <p:cNvPicPr>
            <a:picLocks noChangeAspect="1"/>
          </p:cNvPicPr>
          <p:nvPr/>
        </p:nvPicPr>
        <p:blipFill>
          <a:blip r:embed="rId1"/>
          <a:stretch>
            <a:fillRect/>
          </a:stretch>
        </p:blipFill>
        <p:spPr>
          <a:xfrm>
            <a:off x="457200" y="1097280"/>
            <a:ext cx="8229600" cy="2792186"/>
          </a:xfrm>
          <a:prstGeom prst="rect">
            <a:avLst/>
          </a:prstGeom>
        </p:spPr>
      </p:pic>
      <p:sp>
        <p:nvSpPr>
          <p:cNvPr id="4" name="Text 1"/>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400" dirty="0">
                <a:solidFill>
                  <a:schemeClr val="tx1"/>
                </a:solidFill>
              </a:rPr>
              <a:t>Bars show how much of the anomaly each metric explains. The label compares the observed value with what the autoencoder expected, so an engineer sees the cause in seconds.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Guardian agent: bounded autonomy</a:t>
            </a:r>
            <a:endParaRPr lang="en-US" sz="3200" dirty="0"/>
          </a:p>
        </p:txBody>
      </p:sp>
      <p:sp>
        <p:nvSpPr>
          <p:cNvPr id="3" name="terminal"/>
          <p:cNvSpPr/>
          <p:nvPr/>
        </p:nvSpPr>
        <p:spPr>
          <a:xfrm>
            <a:off x="457200" y="1143000"/>
            <a:ext cx="5029200" cy="3383280"/>
          </a:xfrm>
          <a:prstGeom prst="roundRect">
            <a:avLst>
              <a:gd name="adj" fmla="val 3243"/>
            </a:avLst>
          </a:prstGeom>
          <a:solidFill>
            <a:schemeClr val="bg2"/>
          </a:solidFill>
          <a:ln w="9525">
            <a:solidFill>
              <a:schemeClr val="accent5"/>
            </a:solidFill>
            <a:prstDash val="solid"/>
          </a:ln>
        </p:spPr>
      </p:sp>
      <p:sp>
        <p:nvSpPr>
          <p:cNvPr id="4" name="Text 2"/>
          <p:cNvSpPr txBox="1"/>
          <p:nvPr/>
        </p:nvSpPr>
        <p:spPr>
          <a:xfrm>
            <a:off x="640080" y="1325880"/>
            <a:ext cx="4663440" cy="30175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[CRITICAL] Volumetric DDoS attack</a:t>
            </a:r>
            <a:endParaRPr lang="en-US" sz="1400" dirty="0"/>
          </a:p>
          <a:p>
            <a:pPr indent="0" marL="0">
              <a:buNone/>
            </a:pPr>
            <a:r>
              <a:rPr lang="en-US" sz="1200" dirty="0">
                <a:solidFill>
                  <a:schemeClr val="tx2"/>
                </a:solidFill>
                <a:latin typeface="Courier New" pitchFamily="34" charset="0"/>
                <a:ea typeface="Courier New" pitchFamily="34" charset="-122"/>
                <a:cs typeface="Courier New" pitchFamily="34" charset="-120"/>
              </a:rPr>
              <a:t>minutes 92666-92694 (29 min) | peak risk 100/100</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WHY   HTTP 5xx % = 13 (model expected ~2)</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      Avg packet bytes = 463 (model expected ~595)</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accent6"/>
                </a:solidFill>
                <a:latin typeface="Courier New" pitchFamily="34" charset="0"/>
                <a:ea typeface="Courier New" pitchFamily="34" charset="-122"/>
                <a:cs typeface="Courier New" pitchFamily="34" charset="-120"/>
              </a:rPr>
              <a:t>AUTO  Enable CDN / WAF rate-limiting profile</a:t>
            </a:r>
            <a:endParaRPr lang="en-US" sz="1400" dirty="0"/>
          </a:p>
          <a:p>
            <a:pPr indent="0" marL="0">
              <a:buNone/>
            </a:pPr>
            <a:r>
              <a:rPr lang="en-US" sz="1200" dirty="0">
                <a:solidFill>
                  <a:schemeClr val="accent6"/>
                </a:solidFill>
                <a:latin typeface="Courier New" pitchFamily="34" charset="0"/>
                <a:ea typeface="Courier New" pitchFamily="34" charset="-122"/>
                <a:cs typeface="Courier New" pitchFamily="34" charset="-120"/>
              </a:rPr>
              <a:t>AUTO  Page the on-call network engineer</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accent3"/>
                </a:solidFill>
                <a:latin typeface="Courier New" pitchFamily="34" charset="0"/>
                <a:ea typeface="Courier New" pitchFamily="34" charset="-122"/>
                <a:cs typeface="Courier New" pitchFamily="34" charset="-120"/>
              </a:rPr>
              <a:t>ASK   Null-route top offending prefixes</a:t>
            </a:r>
            <a:endParaRPr lang="en-US" sz="1400" dirty="0"/>
          </a:p>
          <a:p>
            <a:pPr indent="0" marL="0">
              <a:buNone/>
            </a:pPr>
            <a:r>
              <a:rPr lang="en-US" sz="1200" dirty="0">
                <a:solidFill>
                  <a:schemeClr val="accent3"/>
                </a:solidFill>
                <a:latin typeface="Courier New" pitchFamily="34" charset="0"/>
                <a:ea typeface="Courier New" pitchFamily="34" charset="-122"/>
                <a:cs typeface="Courier New" pitchFamily="34" charset="-120"/>
              </a:rPr>
              <a:t>ASK   Scale out replicas behind the load balancer</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400" dirty="0"/>
          </a:p>
          <a:p>
            <a:pPr indent="0" marL="0">
              <a:buNone/>
            </a:pPr>
            <a:r>
              <a:rPr lang="en-US" sz="1200" dirty="0">
                <a:solidFill>
                  <a:schemeClr val="tx2"/>
                </a:solidFill>
                <a:latin typeface="Courier New" pitchFamily="34" charset="0"/>
                <a:ea typeface="Courier New" pitchFamily="34" charset="-122"/>
                <a:cs typeface="Courier New" pitchFamily="34" charset="-120"/>
              </a:rPr>
              <a:t>AUDIT 4 actions logged, 2 wait for a human</a:t>
            </a:r>
            <a:endParaRPr lang="en-US" sz="1400" dirty="0"/>
          </a:p>
        </p:txBody>
      </p:sp>
      <p:sp>
        <p:nvSpPr>
          <p:cNvPr id="5" name="1  Detect badge"/>
          <p:cNvSpPr/>
          <p:nvPr/>
        </p:nvSpPr>
        <p:spPr>
          <a:xfrm>
            <a:off x="5760720" y="1234440"/>
            <a:ext cx="548640" cy="548640"/>
          </a:xfrm>
          <a:prstGeom prst="ellipse">
            <a:avLst/>
          </a:prstGeom>
          <a:solidFill>
            <a:schemeClr val="accent1"/>
          </a:solidFill>
          <a:ln w="6350">
            <a:solidFill>
              <a:schemeClr val="accent1"/>
            </a:solidFill>
            <a:prstDash val="solid"/>
          </a:ln>
        </p:spPr>
      </p:sp>
      <p:pic>
        <p:nvPicPr>
          <p:cNvPr id="6" name="Image 0" descr="1  Detect">    </p:cNvPr>
          <p:cNvPicPr>
            <a:picLocks noChangeAspect="1"/>
          </p:cNvPicPr>
          <p:nvPr/>
        </p:nvPicPr>
        <p:blipFill>
          <a:blip r:embed="rId1"/>
          <a:stretch>
            <a:fillRect/>
          </a:stretch>
        </p:blipFill>
        <p:spPr>
          <a:xfrm>
            <a:off x="5897880" y="1371600"/>
            <a:ext cx="274320" cy="274320"/>
          </a:xfrm>
          <a:prstGeom prst="rect">
            <a:avLst/>
          </a:prstGeom>
        </p:spPr>
      </p:pic>
      <p:sp>
        <p:nvSpPr>
          <p:cNvPr id="7" name="Text 4"/>
          <p:cNvSpPr txBox="1"/>
          <p:nvPr/>
        </p:nvSpPr>
        <p:spPr>
          <a:xfrm>
            <a:off x="6492240" y="1188720"/>
            <a:ext cx="2194560" cy="411480"/>
          </a:xfrm>
          <a:prstGeom prst="rect">
            <a:avLst/>
          </a:prstGeom>
          <a:noFill/>
          <a:ln/>
        </p:spPr>
        <p:txBody>
          <a:bodyPr wrap="square" lIns="0" tIns="0" rIns="0" bIns="0" rtlCol="0" anchor="t"/>
          <a:lstStyle/>
          <a:p>
            <a:pPr indent="0" marL="0">
              <a:buNone/>
            </a:pPr>
            <a:r>
              <a:rPr lang="en-US" sz="1400" b="1" dirty="0">
                <a:solidFill>
                  <a:schemeClr val="tx1"/>
                </a:solidFill>
              </a:rPr>
              <a:t>1  Detect</a:t>
            </a:r>
            <a:endParaRPr lang="en-US" sz="1400" dirty="0"/>
          </a:p>
        </p:txBody>
      </p:sp>
      <p:sp>
        <p:nvSpPr>
          <p:cNvPr id="8" name="Text 5"/>
          <p:cNvSpPr txBox="1"/>
          <p:nvPr/>
        </p:nvSpPr>
        <p:spPr>
          <a:xfrm>
            <a:off x="6492240" y="1645920"/>
            <a:ext cx="2194560" cy="365760"/>
          </a:xfrm>
          <a:prstGeom prst="rect">
            <a:avLst/>
          </a:prstGeom>
          <a:noFill/>
          <a:ln/>
        </p:spPr>
        <p:txBody>
          <a:bodyPr wrap="square" lIns="0" tIns="0" rIns="0" bIns="0" rtlCol="0" anchor="t"/>
          <a:lstStyle/>
          <a:p>
            <a:pPr indent="0" marL="0">
              <a:buNone/>
            </a:pPr>
            <a:r>
              <a:rPr lang="en-US" sz="1200" dirty="0">
                <a:solidFill>
                  <a:schemeClr val="tx2"/>
                </a:solidFill>
              </a:rPr>
              <a:t>Risk crosses the alert line.</a:t>
            </a:r>
            <a:endParaRPr lang="en-US" sz="1200" dirty="0"/>
          </a:p>
        </p:txBody>
      </p:sp>
      <p:sp>
        <p:nvSpPr>
          <p:cNvPr id="9" name="2  Auto-run safe actions badge"/>
          <p:cNvSpPr/>
          <p:nvPr/>
        </p:nvSpPr>
        <p:spPr>
          <a:xfrm>
            <a:off x="5760720" y="2377440"/>
            <a:ext cx="548640" cy="548640"/>
          </a:xfrm>
          <a:prstGeom prst="ellipse">
            <a:avLst/>
          </a:prstGeom>
          <a:solidFill>
            <a:schemeClr val="accent1"/>
          </a:solidFill>
          <a:ln w="6350">
            <a:solidFill>
              <a:schemeClr val="accent1"/>
            </a:solidFill>
            <a:prstDash val="solid"/>
          </a:ln>
        </p:spPr>
      </p:sp>
      <p:pic>
        <p:nvPicPr>
          <p:cNvPr id="10" name="Image 1" descr="2  Auto-run safe actions">    </p:cNvPr>
          <p:cNvPicPr>
            <a:picLocks noChangeAspect="1"/>
          </p:cNvPicPr>
          <p:nvPr/>
        </p:nvPicPr>
        <p:blipFill>
          <a:blip r:embed="rId2"/>
          <a:stretch>
            <a:fillRect/>
          </a:stretch>
        </p:blipFill>
        <p:spPr>
          <a:xfrm>
            <a:off x="5897880" y="2514600"/>
            <a:ext cx="274320" cy="274320"/>
          </a:xfrm>
          <a:prstGeom prst="rect">
            <a:avLst/>
          </a:prstGeom>
        </p:spPr>
      </p:pic>
      <p:sp>
        <p:nvSpPr>
          <p:cNvPr id="11" name="Text 7"/>
          <p:cNvSpPr txBox="1"/>
          <p:nvPr/>
        </p:nvSpPr>
        <p:spPr>
          <a:xfrm>
            <a:off x="6492240" y="2331720"/>
            <a:ext cx="2194560" cy="411480"/>
          </a:xfrm>
          <a:prstGeom prst="rect">
            <a:avLst/>
          </a:prstGeom>
          <a:noFill/>
          <a:ln/>
        </p:spPr>
        <p:txBody>
          <a:bodyPr wrap="square" lIns="0" tIns="0" rIns="0" bIns="0" rtlCol="0" anchor="t"/>
          <a:lstStyle/>
          <a:p>
            <a:pPr indent="0" marL="0">
              <a:buNone/>
            </a:pPr>
            <a:r>
              <a:rPr lang="en-US" sz="1400" b="1" dirty="0">
                <a:solidFill>
                  <a:schemeClr val="tx1"/>
                </a:solidFill>
              </a:rPr>
              <a:t>2  Auto-run safe actions</a:t>
            </a:r>
            <a:endParaRPr lang="en-US" sz="1400" dirty="0"/>
          </a:p>
        </p:txBody>
      </p:sp>
      <p:sp>
        <p:nvSpPr>
          <p:cNvPr id="12" name="Text 8"/>
          <p:cNvSpPr txBox="1"/>
          <p:nvPr/>
        </p:nvSpPr>
        <p:spPr>
          <a:xfrm>
            <a:off x="6492240" y="2788920"/>
            <a:ext cx="2194560" cy="365760"/>
          </a:xfrm>
          <a:prstGeom prst="rect">
            <a:avLst/>
          </a:prstGeom>
          <a:noFill/>
          <a:ln/>
        </p:spPr>
        <p:txBody>
          <a:bodyPr wrap="square" lIns="0" tIns="0" rIns="0" bIns="0" rtlCol="0" anchor="t"/>
          <a:lstStyle/>
          <a:p>
            <a:pPr indent="0" marL="0">
              <a:buNone/>
            </a:pPr>
            <a:r>
              <a:rPr lang="en-US" sz="1200" dirty="0">
                <a:solidFill>
                  <a:schemeClr val="tx2"/>
                </a:solidFill>
              </a:rPr>
              <a:t>Snapshots, tickets, paging.</a:t>
            </a:r>
            <a:endParaRPr lang="en-US" sz="1200" dirty="0"/>
          </a:p>
        </p:txBody>
      </p:sp>
      <p:sp>
        <p:nvSpPr>
          <p:cNvPr id="13" name="3  Human OKs risky ones badge"/>
          <p:cNvSpPr/>
          <p:nvPr/>
        </p:nvSpPr>
        <p:spPr>
          <a:xfrm>
            <a:off x="5760720" y="3520440"/>
            <a:ext cx="548640" cy="548640"/>
          </a:xfrm>
          <a:prstGeom prst="ellipse">
            <a:avLst/>
          </a:prstGeom>
          <a:solidFill>
            <a:schemeClr val="accent1"/>
          </a:solidFill>
          <a:ln w="6350">
            <a:solidFill>
              <a:schemeClr val="accent1"/>
            </a:solidFill>
            <a:prstDash val="solid"/>
          </a:ln>
        </p:spPr>
      </p:sp>
      <p:pic>
        <p:nvPicPr>
          <p:cNvPr id="14" name="Image 2" descr="3  Human OKs risky ones">    </p:cNvPr>
          <p:cNvPicPr>
            <a:picLocks noChangeAspect="1"/>
          </p:cNvPicPr>
          <p:nvPr/>
        </p:nvPicPr>
        <p:blipFill>
          <a:blip r:embed="rId3"/>
          <a:stretch>
            <a:fillRect/>
          </a:stretch>
        </p:blipFill>
        <p:spPr>
          <a:xfrm>
            <a:off x="5897880" y="3657600"/>
            <a:ext cx="274320" cy="274320"/>
          </a:xfrm>
          <a:prstGeom prst="rect">
            <a:avLst/>
          </a:prstGeom>
        </p:spPr>
      </p:pic>
      <p:sp>
        <p:nvSpPr>
          <p:cNvPr id="15" name="Text 10"/>
          <p:cNvSpPr txBox="1"/>
          <p:nvPr/>
        </p:nvSpPr>
        <p:spPr>
          <a:xfrm>
            <a:off x="6492240" y="3474720"/>
            <a:ext cx="2194560" cy="411480"/>
          </a:xfrm>
          <a:prstGeom prst="rect">
            <a:avLst/>
          </a:prstGeom>
          <a:noFill/>
          <a:ln/>
        </p:spPr>
        <p:txBody>
          <a:bodyPr wrap="square" lIns="0" tIns="0" rIns="0" bIns="0" rtlCol="0" anchor="t"/>
          <a:lstStyle/>
          <a:p>
            <a:pPr indent="0" marL="0">
              <a:buNone/>
            </a:pPr>
            <a:r>
              <a:rPr lang="en-US" sz="1400" b="1" dirty="0">
                <a:solidFill>
                  <a:schemeClr val="tx1"/>
                </a:solidFill>
              </a:rPr>
              <a:t>3  Human OKs risky ones</a:t>
            </a:r>
            <a:endParaRPr lang="en-US" sz="1400" dirty="0"/>
          </a:p>
        </p:txBody>
      </p:sp>
      <p:sp>
        <p:nvSpPr>
          <p:cNvPr id="16" name="Text 11"/>
          <p:cNvSpPr txBox="1"/>
          <p:nvPr/>
        </p:nvSpPr>
        <p:spPr>
          <a:xfrm>
            <a:off x="6492240" y="3931920"/>
            <a:ext cx="2194560" cy="365760"/>
          </a:xfrm>
          <a:prstGeom prst="rect">
            <a:avLst/>
          </a:prstGeom>
          <a:noFill/>
          <a:ln/>
        </p:spPr>
        <p:txBody>
          <a:bodyPr wrap="square" lIns="0" tIns="0" rIns="0" bIns="0" rtlCol="0" anchor="t"/>
          <a:lstStyle/>
          <a:p>
            <a:pPr indent="0" marL="0">
              <a:buNone/>
            </a:pPr>
            <a:r>
              <a:rPr lang="en-US" sz="1200" dirty="0">
                <a:solidFill>
                  <a:schemeClr val="tx2"/>
                </a:solidFill>
              </a:rPr>
              <a:t>Block, isolate, quarantine.</a:t>
            </a:r>
            <a:endParaRPr lang="en-US" sz="1200" dirty="0"/>
          </a:p>
        </p:txBody>
      </p:sp>
      <p:sp>
        <p:nvSpPr>
          <p:cNvPr id="17" name="Text 12"/>
          <p:cNvSpPr txBox="1"/>
          <p:nvPr/>
        </p:nvSpPr>
        <p:spPr>
          <a:xfrm>
            <a:off x="5760720" y="4206240"/>
            <a:ext cx="2926080" cy="365760"/>
          </a:xfrm>
          <a:prstGeom prst="rect">
            <a:avLst/>
          </a:prstGeom>
          <a:noFill/>
          <a:ln/>
        </p:spPr>
        <p:txBody>
          <a:bodyPr wrap="square" lIns="0" tIns="0" rIns="0" bIns="0" rtlCol="0" anchor="t"/>
          <a:lstStyle/>
          <a:p>
            <a:pPr indent="0" marL="0">
              <a:buNone/>
            </a:pPr>
            <a:r>
              <a:rPr lang="en-US" sz="1000" dirty="0">
                <a:solidFill>
                  <a:schemeClr val="tx2"/>
                </a:solidFill>
              </a:rPr>
              <a:t>Every action is audit-logged. Actions are simulated; connect your firewall or ticket API to go live.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Built for production, not just demos</a:t>
            </a:r>
            <a:endParaRPr lang="en-US" sz="3200" dirty="0"/>
          </a:p>
        </p:txBody>
      </p:sp>
      <p:pic>
        <p:nvPicPr>
          <p:cNvPr id="3" name="Image 0" descr="Drift watchdog PSI per metric, stable week versus traffic change">    </p:cNvPr>
          <p:cNvPicPr>
            <a:picLocks noChangeAspect="1"/>
          </p:cNvPicPr>
          <p:nvPr/>
        </p:nvPicPr>
        <p:blipFill>
          <a:blip r:embed="rId1"/>
          <a:stretch>
            <a:fillRect/>
          </a:stretch>
        </p:blipFill>
        <p:spPr>
          <a:xfrm>
            <a:off x="457200" y="1097280"/>
            <a:ext cx="5029200" cy="3064669"/>
          </a:xfrm>
          <a:prstGeom prst="rect">
            <a:avLst/>
          </a:prstGeom>
        </p:spPr>
      </p:pic>
      <p:sp>
        <p:nvSpPr>
          <p:cNvPr id="4" name="Text 1"/>
          <p:cNvSpPr txBox="1"/>
          <p:nvPr/>
        </p:nvSpPr>
        <p:spPr>
          <a:xfrm>
            <a:off x="457200" y="4251960"/>
            <a:ext cx="5029200" cy="457200"/>
          </a:xfrm>
          <a:prstGeom prst="rect">
            <a:avLst/>
          </a:prstGeom>
          <a:noFill/>
          <a:ln/>
        </p:spPr>
        <p:txBody>
          <a:bodyPr wrap="square" lIns="0" tIns="0" rIns="0" bIns="0" rtlCol="0" anchor="t"/>
          <a:lstStyle/>
          <a:p>
            <a:pPr indent="0" marL="0">
              <a:buNone/>
            </a:pPr>
            <a:r>
              <a:rPr lang="en-US" sz="1200" dirty="0">
                <a:solidFill>
                  <a:schemeClr val="tx1"/>
                </a:solidFill>
              </a:rPr>
              <a:t>Normal week: PSI 0.007 = STABLE. After a traffic change: PSI 2.15 on inbound traffic = retrain alarm.</a:t>
            </a:r>
            <a:endParaRPr lang="en-US" sz="1200" dirty="0"/>
          </a:p>
        </p:txBody>
      </p:sp>
      <p:sp>
        <p:nvSpPr>
          <p:cNvPr id="5" name="prod card"/>
          <p:cNvSpPr/>
          <p:nvPr/>
        </p:nvSpPr>
        <p:spPr>
          <a:xfrm>
            <a:off x="5760720" y="1143000"/>
            <a:ext cx="2926080" cy="1005840"/>
          </a:xfrm>
          <a:prstGeom prst="roundRect">
            <a:avLst>
              <a:gd name="adj" fmla="val 10909"/>
            </a:avLst>
          </a:prstGeom>
          <a:solidFill>
            <a:schemeClr val="bg2"/>
          </a:solidFill>
          <a:ln w="9525">
            <a:solidFill>
              <a:schemeClr val="accent5"/>
            </a:solidFill>
            <a:prstDash val="solid"/>
          </a:ln>
        </p:spPr>
      </p:sp>
      <p:sp>
        <p:nvSpPr>
          <p:cNvPr id="6" name="Text 3"/>
          <p:cNvSpPr txBox="1"/>
          <p:nvPr/>
        </p:nvSpPr>
        <p:spPr>
          <a:xfrm>
            <a:off x="5943600" y="1252728"/>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34 KB</a:t>
            </a:r>
            <a:endParaRPr lang="en-US" sz="2600" dirty="0"/>
          </a:p>
        </p:txBody>
      </p:sp>
      <p:sp>
        <p:nvSpPr>
          <p:cNvPr id="7" name="Text 4"/>
          <p:cNvSpPr txBox="1"/>
          <p:nvPr/>
        </p:nvSpPr>
        <p:spPr>
          <a:xfrm>
            <a:off x="5943600" y="1764792"/>
            <a:ext cx="2560320" cy="274320"/>
          </a:xfrm>
          <a:prstGeom prst="rect">
            <a:avLst/>
          </a:prstGeom>
          <a:noFill/>
          <a:ln/>
        </p:spPr>
        <p:txBody>
          <a:bodyPr wrap="square" lIns="0" tIns="0" rIns="0" bIns="0" rtlCol="0" anchor="t"/>
          <a:lstStyle/>
          <a:p>
            <a:pPr indent="0" marL="0">
              <a:buNone/>
            </a:pPr>
            <a:r>
              <a:rPr lang="en-US" sz="1200" dirty="0">
                <a:solidFill>
                  <a:schemeClr val="tx1"/>
                </a:solidFill>
              </a:rPr>
              <a:t>whole model file</a:t>
            </a:r>
            <a:endParaRPr lang="en-US" sz="1200" dirty="0"/>
          </a:p>
        </p:txBody>
      </p:sp>
      <p:sp>
        <p:nvSpPr>
          <p:cNvPr id="8" name="prod card"/>
          <p:cNvSpPr/>
          <p:nvPr/>
        </p:nvSpPr>
        <p:spPr>
          <a:xfrm>
            <a:off x="5760720" y="2286000"/>
            <a:ext cx="2926080" cy="1005840"/>
          </a:xfrm>
          <a:prstGeom prst="roundRect">
            <a:avLst>
              <a:gd name="adj" fmla="val 10909"/>
            </a:avLst>
          </a:prstGeom>
          <a:solidFill>
            <a:schemeClr val="bg2"/>
          </a:solidFill>
          <a:ln w="9525">
            <a:solidFill>
              <a:schemeClr val="accent5"/>
            </a:solidFill>
            <a:prstDash val="solid"/>
          </a:ln>
        </p:spPr>
      </p:sp>
      <p:sp>
        <p:nvSpPr>
          <p:cNvPr id="9" name="Text 6"/>
          <p:cNvSpPr txBox="1"/>
          <p:nvPr/>
        </p:nvSpPr>
        <p:spPr>
          <a:xfrm>
            <a:off x="5943600" y="2395728"/>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0.004 ms</a:t>
            </a:r>
            <a:endParaRPr lang="en-US" sz="2600" dirty="0"/>
          </a:p>
        </p:txBody>
      </p:sp>
      <p:sp>
        <p:nvSpPr>
          <p:cNvPr id="10" name="Text 7"/>
          <p:cNvSpPr txBox="1"/>
          <p:nvPr/>
        </p:nvSpPr>
        <p:spPr>
          <a:xfrm>
            <a:off x="5943600" y="2907792"/>
            <a:ext cx="2560320" cy="274320"/>
          </a:xfrm>
          <a:prstGeom prst="rect">
            <a:avLst/>
          </a:prstGeom>
          <a:noFill/>
          <a:ln/>
        </p:spPr>
        <p:txBody>
          <a:bodyPr wrap="square" lIns="0" tIns="0" rIns="0" bIns="0" rtlCol="0" anchor="t"/>
          <a:lstStyle/>
          <a:p>
            <a:pPr indent="0" marL="0">
              <a:buNone/>
            </a:pPr>
            <a:r>
              <a:rPr lang="en-US" sz="1200" dirty="0">
                <a:solidFill>
                  <a:schemeClr val="tx1"/>
                </a:solidFill>
              </a:rPr>
              <a:t>per minute-window on 1 CPU</a:t>
            </a:r>
            <a:endParaRPr lang="en-US" sz="1200" dirty="0"/>
          </a:p>
        </p:txBody>
      </p:sp>
      <p:sp>
        <p:nvSpPr>
          <p:cNvPr id="11" name="prod card"/>
          <p:cNvSpPr/>
          <p:nvPr/>
        </p:nvSpPr>
        <p:spPr>
          <a:xfrm>
            <a:off x="5760720" y="3429000"/>
            <a:ext cx="2926080" cy="1005840"/>
          </a:xfrm>
          <a:prstGeom prst="roundRect">
            <a:avLst>
              <a:gd name="adj" fmla="val 10909"/>
            </a:avLst>
          </a:prstGeom>
          <a:solidFill>
            <a:schemeClr val="bg2"/>
          </a:solidFill>
          <a:ln w="9525">
            <a:solidFill>
              <a:schemeClr val="accent5"/>
            </a:solidFill>
            <a:prstDash val="solid"/>
          </a:ln>
        </p:spPr>
      </p:sp>
      <p:sp>
        <p:nvSpPr>
          <p:cNvPr id="12" name="Text 9"/>
          <p:cNvSpPr txBox="1"/>
          <p:nvPr/>
        </p:nvSpPr>
        <p:spPr>
          <a:xfrm>
            <a:off x="5943600" y="3538728"/>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12 / 12</a:t>
            </a:r>
            <a:endParaRPr lang="en-US" sz="2600" dirty="0"/>
          </a:p>
        </p:txBody>
      </p:sp>
      <p:sp>
        <p:nvSpPr>
          <p:cNvPr id="13" name="Text 10"/>
          <p:cNvSpPr txBox="1"/>
          <p:nvPr/>
        </p:nvSpPr>
        <p:spPr>
          <a:xfrm>
            <a:off x="5943600" y="4050792"/>
            <a:ext cx="2560320" cy="274320"/>
          </a:xfrm>
          <a:prstGeom prst="rect">
            <a:avLst/>
          </a:prstGeom>
          <a:noFill/>
          <a:ln/>
        </p:spPr>
        <p:txBody>
          <a:bodyPr wrap="square" lIns="0" tIns="0" rIns="0" bIns="0" rtlCol="0" anchor="t"/>
          <a:lstStyle/>
          <a:p>
            <a:pPr indent="0" marL="0">
              <a:buNone/>
            </a:pPr>
            <a:r>
              <a:rPr lang="en-US" sz="1200" dirty="0">
                <a:solidFill>
                  <a:schemeClr val="tx1"/>
                </a:solidFill>
              </a:rPr>
              <a:t>automated tests pass + REST API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txBox="1"/>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100% free tools, run it in 3 commands</a:t>
            </a:r>
            <a:endParaRPr lang="en-US" sz="3200" dirty="0"/>
          </a:p>
        </p:txBody>
      </p:sp>
      <p:sp>
        <p:nvSpPr>
          <p:cNvPr id="3" name="tool pill"/>
          <p:cNvSpPr/>
          <p:nvPr/>
        </p:nvSpPr>
        <p:spPr>
          <a:xfrm>
            <a:off x="457200" y="1188720"/>
            <a:ext cx="1097280" cy="365760"/>
          </a:xfrm>
          <a:prstGeom prst="roundRect">
            <a:avLst>
              <a:gd name="adj" fmla="val 50000"/>
            </a:avLst>
          </a:prstGeom>
          <a:solidFill>
            <a:schemeClr val="bg2"/>
          </a:solidFill>
          <a:ln w="12700">
            <a:solidFill>
              <a:schemeClr val="accent1"/>
            </a:solidFill>
            <a:prstDash val="solid"/>
          </a:ln>
        </p:spPr>
      </p:sp>
      <p:sp>
        <p:nvSpPr>
          <p:cNvPr id="4" name="Text 2"/>
          <p:cNvSpPr txBox="1"/>
          <p:nvPr/>
        </p:nvSpPr>
        <p:spPr>
          <a:xfrm>
            <a:off x="45720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Python 3</a:t>
            </a:r>
            <a:endParaRPr lang="en-US" sz="1200" dirty="0"/>
          </a:p>
        </p:txBody>
      </p:sp>
      <p:sp>
        <p:nvSpPr>
          <p:cNvPr id="5" name="tool pill"/>
          <p:cNvSpPr/>
          <p:nvPr/>
        </p:nvSpPr>
        <p:spPr>
          <a:xfrm>
            <a:off x="1645920" y="1188720"/>
            <a:ext cx="1097280" cy="365760"/>
          </a:xfrm>
          <a:prstGeom prst="roundRect">
            <a:avLst>
              <a:gd name="adj" fmla="val 50000"/>
            </a:avLst>
          </a:prstGeom>
          <a:solidFill>
            <a:schemeClr val="bg2"/>
          </a:solidFill>
          <a:ln w="12700">
            <a:solidFill>
              <a:schemeClr val="accent1"/>
            </a:solidFill>
            <a:prstDash val="solid"/>
          </a:ln>
        </p:spPr>
      </p:sp>
      <p:sp>
        <p:nvSpPr>
          <p:cNvPr id="6" name="Text 4"/>
          <p:cNvSpPr txBox="1"/>
          <p:nvPr/>
        </p:nvSpPr>
        <p:spPr>
          <a:xfrm>
            <a:off x="164592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NumPy</a:t>
            </a:r>
            <a:endParaRPr lang="en-US" sz="1200" dirty="0"/>
          </a:p>
        </p:txBody>
      </p:sp>
      <p:sp>
        <p:nvSpPr>
          <p:cNvPr id="7" name="tool pill"/>
          <p:cNvSpPr/>
          <p:nvPr/>
        </p:nvSpPr>
        <p:spPr>
          <a:xfrm>
            <a:off x="2834640" y="1188720"/>
            <a:ext cx="1097280" cy="365760"/>
          </a:xfrm>
          <a:prstGeom prst="roundRect">
            <a:avLst>
              <a:gd name="adj" fmla="val 50000"/>
            </a:avLst>
          </a:prstGeom>
          <a:solidFill>
            <a:schemeClr val="bg2"/>
          </a:solidFill>
          <a:ln w="12700">
            <a:solidFill>
              <a:schemeClr val="accent1"/>
            </a:solidFill>
            <a:prstDash val="solid"/>
          </a:ln>
        </p:spPr>
      </p:sp>
      <p:sp>
        <p:nvSpPr>
          <p:cNvPr id="8" name="Text 6"/>
          <p:cNvSpPr txBox="1"/>
          <p:nvPr/>
        </p:nvSpPr>
        <p:spPr>
          <a:xfrm>
            <a:off x="283464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pandas</a:t>
            </a:r>
            <a:endParaRPr lang="en-US" sz="1200" dirty="0"/>
          </a:p>
        </p:txBody>
      </p:sp>
      <p:sp>
        <p:nvSpPr>
          <p:cNvPr id="9" name="tool pill"/>
          <p:cNvSpPr/>
          <p:nvPr/>
        </p:nvSpPr>
        <p:spPr>
          <a:xfrm>
            <a:off x="4023360" y="1188720"/>
            <a:ext cx="1097280" cy="365760"/>
          </a:xfrm>
          <a:prstGeom prst="roundRect">
            <a:avLst>
              <a:gd name="adj" fmla="val 50000"/>
            </a:avLst>
          </a:prstGeom>
          <a:solidFill>
            <a:schemeClr val="bg2"/>
          </a:solidFill>
          <a:ln w="12700">
            <a:solidFill>
              <a:schemeClr val="accent1"/>
            </a:solidFill>
            <a:prstDash val="solid"/>
          </a:ln>
        </p:spPr>
      </p:sp>
      <p:sp>
        <p:nvSpPr>
          <p:cNvPr id="10" name="Text 8"/>
          <p:cNvSpPr txBox="1"/>
          <p:nvPr/>
        </p:nvSpPr>
        <p:spPr>
          <a:xfrm>
            <a:off x="402336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scikit-learn</a:t>
            </a:r>
            <a:endParaRPr lang="en-US" sz="1200" dirty="0"/>
          </a:p>
        </p:txBody>
      </p:sp>
      <p:sp>
        <p:nvSpPr>
          <p:cNvPr id="11" name="tool pill"/>
          <p:cNvSpPr/>
          <p:nvPr/>
        </p:nvSpPr>
        <p:spPr>
          <a:xfrm>
            <a:off x="5212080" y="1188720"/>
            <a:ext cx="1097280" cy="365760"/>
          </a:xfrm>
          <a:prstGeom prst="roundRect">
            <a:avLst>
              <a:gd name="adj" fmla="val 50000"/>
            </a:avLst>
          </a:prstGeom>
          <a:solidFill>
            <a:schemeClr val="bg2"/>
          </a:solidFill>
          <a:ln w="12700">
            <a:solidFill>
              <a:schemeClr val="accent1"/>
            </a:solidFill>
            <a:prstDash val="solid"/>
          </a:ln>
        </p:spPr>
      </p:sp>
      <p:sp>
        <p:nvSpPr>
          <p:cNvPr id="12" name="Text 10"/>
          <p:cNvSpPr txBox="1"/>
          <p:nvPr/>
        </p:nvSpPr>
        <p:spPr>
          <a:xfrm>
            <a:off x="521208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Matplotlib</a:t>
            </a:r>
            <a:endParaRPr lang="en-US" sz="1200" dirty="0"/>
          </a:p>
        </p:txBody>
      </p:sp>
      <p:sp>
        <p:nvSpPr>
          <p:cNvPr id="13" name="tool pill"/>
          <p:cNvSpPr/>
          <p:nvPr/>
        </p:nvSpPr>
        <p:spPr>
          <a:xfrm>
            <a:off x="6400800" y="1188720"/>
            <a:ext cx="1097280" cy="365760"/>
          </a:xfrm>
          <a:prstGeom prst="roundRect">
            <a:avLst>
              <a:gd name="adj" fmla="val 50000"/>
            </a:avLst>
          </a:prstGeom>
          <a:solidFill>
            <a:schemeClr val="bg2"/>
          </a:solidFill>
          <a:ln w="12700">
            <a:solidFill>
              <a:schemeClr val="accent1"/>
            </a:solidFill>
            <a:prstDash val="solid"/>
          </a:ln>
        </p:spPr>
      </p:sp>
      <p:sp>
        <p:nvSpPr>
          <p:cNvPr id="14" name="Text 12"/>
          <p:cNvSpPr txBox="1"/>
          <p:nvPr/>
        </p:nvSpPr>
        <p:spPr>
          <a:xfrm>
            <a:off x="640080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Flask</a:t>
            </a:r>
            <a:endParaRPr lang="en-US" sz="1200" dirty="0"/>
          </a:p>
        </p:txBody>
      </p:sp>
      <p:sp>
        <p:nvSpPr>
          <p:cNvPr id="15" name="tool pill"/>
          <p:cNvSpPr/>
          <p:nvPr/>
        </p:nvSpPr>
        <p:spPr>
          <a:xfrm>
            <a:off x="7589520" y="1188720"/>
            <a:ext cx="1097280" cy="365760"/>
          </a:xfrm>
          <a:prstGeom prst="roundRect">
            <a:avLst>
              <a:gd name="adj" fmla="val 50000"/>
            </a:avLst>
          </a:prstGeom>
          <a:solidFill>
            <a:schemeClr val="bg2"/>
          </a:solidFill>
          <a:ln w="12700">
            <a:solidFill>
              <a:schemeClr val="accent1"/>
            </a:solidFill>
            <a:prstDash val="solid"/>
          </a:ln>
        </p:spPr>
      </p:sp>
      <p:sp>
        <p:nvSpPr>
          <p:cNvPr id="16" name="Text 14"/>
          <p:cNvSpPr txBox="1"/>
          <p:nvPr/>
        </p:nvSpPr>
        <p:spPr>
          <a:xfrm>
            <a:off x="7589520" y="1188720"/>
            <a:ext cx="1097280" cy="365760"/>
          </a:xfrm>
          <a:prstGeom prst="rect">
            <a:avLst/>
          </a:prstGeom>
          <a:noFill/>
          <a:ln/>
        </p:spPr>
        <p:txBody>
          <a:bodyPr wrap="square" lIns="0" tIns="0" rIns="0" bIns="0" rtlCol="0" anchor="ctr"/>
          <a:lstStyle/>
          <a:p>
            <a:pPr algn="ctr" indent="0" marL="0">
              <a:buNone/>
            </a:pPr>
            <a:r>
              <a:rPr lang="en-US" sz="1200" b="1" dirty="0">
                <a:solidFill>
                  <a:schemeClr val="accent1"/>
                </a:solidFill>
              </a:rPr>
              <a:t>unittest</a:t>
            </a:r>
            <a:endParaRPr lang="en-US" sz="1200" dirty="0"/>
          </a:p>
        </p:txBody>
      </p:sp>
      <p:sp>
        <p:nvSpPr>
          <p:cNvPr id="17" name="command card"/>
          <p:cNvSpPr/>
          <p:nvPr/>
        </p:nvSpPr>
        <p:spPr>
          <a:xfrm>
            <a:off x="457200" y="1828800"/>
            <a:ext cx="5120640" cy="2651760"/>
          </a:xfrm>
          <a:prstGeom prst="roundRect">
            <a:avLst>
              <a:gd name="adj" fmla="val 4138"/>
            </a:avLst>
          </a:prstGeom>
          <a:solidFill>
            <a:schemeClr val="bg2"/>
          </a:solidFill>
          <a:ln w="9525">
            <a:solidFill>
              <a:schemeClr val="accent5"/>
            </a:solidFill>
            <a:prstDash val="solid"/>
          </a:ln>
        </p:spPr>
      </p:sp>
      <p:sp>
        <p:nvSpPr>
          <p:cNvPr id="18" name="Text 16"/>
          <p:cNvSpPr txBox="1"/>
          <p:nvPr/>
        </p:nvSpPr>
        <p:spPr>
          <a:xfrm>
            <a:off x="685800" y="2011680"/>
            <a:ext cx="4754880" cy="228600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 1. install</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pip install -r requirements.txt</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400" dirty="0"/>
          </a:p>
          <a:p>
            <a:pPr indent="0" marL="0">
              <a:buNone/>
            </a:pPr>
            <a:r>
              <a:rPr lang="en-US" sz="1300" dirty="0">
                <a:solidFill>
                  <a:schemeClr val="tx2"/>
                </a:solidFill>
                <a:latin typeface="Courier New" pitchFamily="34" charset="0"/>
                <a:ea typeface="Courier New" pitchFamily="34" charset="-122"/>
                <a:cs typeface="Courier New" pitchFamily="34" charset="-120"/>
              </a:rPr>
              <a:t># 2. train + evaluate + report</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python run_all.py</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400" dirty="0"/>
          </a:p>
          <a:p>
            <a:pPr indent="0" marL="0">
              <a:buNone/>
            </a:pPr>
            <a:r>
              <a:rPr lang="en-US" sz="1300" dirty="0">
                <a:solidFill>
                  <a:schemeClr val="tx2"/>
                </a:solidFill>
                <a:latin typeface="Courier New" pitchFamily="34" charset="0"/>
                <a:ea typeface="Courier New" pitchFamily="34" charset="-122"/>
                <a:cs typeface="Courier New" pitchFamily="34" charset="-120"/>
              </a:rPr>
              <a:t># 3. prove it works</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python -m unittest discover -s tests -v</a:t>
            </a:r>
            <a:endParaRPr lang="en-US" sz="1400" dirty="0"/>
          </a:p>
        </p:txBody>
      </p:sp>
      <p:sp>
        <p:nvSpPr>
          <p:cNvPr id="19" name="tested card"/>
          <p:cNvSpPr/>
          <p:nvPr/>
        </p:nvSpPr>
        <p:spPr>
          <a:xfrm>
            <a:off x="5852160" y="1828800"/>
            <a:ext cx="2834640" cy="2651760"/>
          </a:xfrm>
          <a:prstGeom prst="roundRect">
            <a:avLst>
              <a:gd name="adj" fmla="val 4138"/>
            </a:avLst>
          </a:prstGeom>
          <a:solidFill>
            <a:schemeClr val="bg2"/>
          </a:solidFill>
          <a:ln w="9525">
            <a:solidFill>
              <a:schemeClr val="accent5"/>
            </a:solidFill>
            <a:prstDash val="solid"/>
          </a:ln>
        </p:spPr>
      </p:sp>
      <p:sp>
        <p:nvSpPr>
          <p:cNvPr id="20" name="Text 18"/>
          <p:cNvSpPr txBox="1"/>
          <p:nvPr/>
        </p:nvSpPr>
        <p:spPr>
          <a:xfrm>
            <a:off x="6035040" y="2011680"/>
            <a:ext cx="2514600" cy="22860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Tested, not claimed</a:t>
            </a:r>
            <a:endParaRPr lang="en-US" sz="1300" dirty="0"/>
          </a:p>
          <a:p>
            <a:pPr marL="342900" indent="-342900">
              <a:spcAft>
                <a:spcPts val="600"/>
              </a:spcAft>
              <a:buSzPct val="100000"/>
              <a:buChar char="•"/>
            </a:pPr>
            <a:r>
              <a:rPr lang="en-US" sz="1300" dirty="0">
                <a:solidFill>
                  <a:schemeClr val="tx1"/>
                </a:solidFill>
              </a:rPr>
              <a:t>Gradient check proves the backprop maths</a:t>
            </a:r>
            <a:endParaRPr lang="en-US" sz="1300" dirty="0"/>
          </a:p>
          <a:p>
            <a:pPr marL="342900" indent="-342900">
              <a:spcAft>
                <a:spcPts val="600"/>
              </a:spcAft>
              <a:buSzPct val="100000"/>
              <a:buChar char="•"/>
            </a:pPr>
            <a:r>
              <a:rPr lang="en-US" sz="1300" dirty="0">
                <a:solidFill>
                  <a:schemeClr val="tx1"/>
                </a:solidFill>
              </a:rPr>
              <a:t>Quality, zero-day, drift and API tests</a:t>
            </a:r>
            <a:endParaRPr lang="en-US" sz="1300" dirty="0"/>
          </a:p>
          <a:p>
            <a:pPr marL="342900" indent="-342900">
              <a:spcAft>
                <a:spcPts val="600"/>
              </a:spcAft>
              <a:buSzPct val="100000"/>
              <a:buChar char="•"/>
            </a:pPr>
            <a:r>
              <a:rPr lang="en-US" sz="1300" dirty="0">
                <a:solidFill>
                  <a:schemeClr val="tx1"/>
                </a:solidFill>
              </a:rPr>
              <a:t>Verified from a clean folder, plus a live API call</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8046720" cy="731520"/>
          </a:xfrm>
          <a:prstGeom prst="rect">
            <a:avLst/>
          </a:prstGeom>
          <a:noFill/>
          <a:ln/>
        </p:spPr>
        <p:txBody>
          <a:bodyPr wrap="square" lIns="0" tIns="0" rIns="0" bIns="0" rtlCol="0" anchor="t"/>
          <a:lstStyle/>
          <a:p>
            <a:pPr indent="0" marL="0">
              <a:buNone/>
            </a:pPr>
            <a:r>
              <a:rPr lang="en-US" sz="3200" b="1" dirty="0">
                <a:solidFill>
                  <a:schemeClr val="tx1"/>
                </a:solidFill>
                <a:latin typeface="Arial" pitchFamily="34" charset="0"/>
                <a:ea typeface="Arial" pitchFamily="34" charset="-122"/>
                <a:cs typeface="Arial" pitchFamily="34" charset="-120"/>
              </a:rPr>
              <a:t>What we proved, and what is next</a:t>
            </a:r>
            <a:endParaRPr lang="en-US" sz="3200" dirty="0"/>
          </a:p>
        </p:txBody>
      </p:sp>
      <p:sp>
        <p:nvSpPr>
          <p:cNvPr id="3" name="proved card"/>
          <p:cNvSpPr/>
          <p:nvPr/>
        </p:nvSpPr>
        <p:spPr>
          <a:xfrm>
            <a:off x="548640" y="1371600"/>
            <a:ext cx="3931920" cy="2651760"/>
          </a:xfrm>
          <a:prstGeom prst="roundRect">
            <a:avLst>
              <a:gd name="adj" fmla="val 4138"/>
            </a:avLst>
          </a:prstGeom>
          <a:solidFill>
            <a:schemeClr val="bg2"/>
          </a:solidFill>
          <a:ln w="9525">
            <a:solidFill>
              <a:schemeClr val="accent5"/>
            </a:solidFill>
            <a:prstDash val="solid"/>
          </a:ln>
        </p:spPr>
      </p:sp>
      <p:sp>
        <p:nvSpPr>
          <p:cNvPr id="4" name="Text 2"/>
          <p:cNvSpPr txBox="1"/>
          <p:nvPr/>
        </p:nvSpPr>
        <p:spPr>
          <a:xfrm>
            <a:off x="777240" y="1554480"/>
            <a:ext cx="3566160" cy="2286000"/>
          </a:xfrm>
          <a:prstGeom prst="rect">
            <a:avLst/>
          </a:prstGeom>
          <a:noFill/>
          <a:ln/>
        </p:spPr>
        <p:txBody>
          <a:bodyPr wrap="square" lIns="0" tIns="0" rIns="0" bIns="0" rtlCol="0" anchor="t"/>
          <a:lstStyle/>
          <a:p>
            <a:pPr indent="0" marL="0">
              <a:spcAft>
                <a:spcPts val="800"/>
              </a:spcAft>
              <a:buNone/>
            </a:pPr>
            <a:r>
              <a:rPr lang="en-US" sz="1800" b="1" dirty="0">
                <a:solidFill>
                  <a:schemeClr val="accent1"/>
                </a:solidFill>
              </a:rPr>
              <a:t>Proved</a:t>
            </a:r>
            <a:endParaRPr lang="en-US" sz="1500" dirty="0"/>
          </a:p>
          <a:p>
            <a:pPr marL="342900" indent="-342900">
              <a:spcAft>
                <a:spcPts val="800"/>
              </a:spcAft>
              <a:buSzPct val="100000"/>
              <a:buChar char="•"/>
            </a:pPr>
            <a:r>
              <a:rPr lang="en-US" sz="1500" dirty="0">
                <a:solidFill>
                  <a:schemeClr val="tx1"/>
                </a:solidFill>
              </a:rPr>
              <a:t>98.5% attack recall at 1.0% false alarms</a:t>
            </a:r>
            <a:endParaRPr lang="en-US" sz="1500" dirty="0"/>
          </a:p>
          <a:p>
            <a:pPr marL="342900" indent="-342900">
              <a:spcAft>
                <a:spcPts val="800"/>
              </a:spcAft>
              <a:buSzPct val="100000"/>
              <a:buChar char="•"/>
            </a:pPr>
            <a:r>
              <a:rPr lang="en-US" sz="1500" dirty="0">
                <a:solidFill>
                  <a:schemeClr val="tx1"/>
                </a:solidFill>
              </a:rPr>
              <a:t>Catches an attack family it never saw</a:t>
            </a:r>
            <a:endParaRPr lang="en-US" sz="1500" dirty="0"/>
          </a:p>
          <a:p>
            <a:pPr marL="342900" indent="-342900">
              <a:spcAft>
                <a:spcPts val="800"/>
              </a:spcAft>
              <a:buSzPct val="100000"/>
              <a:buChar char="•"/>
            </a:pPr>
            <a:r>
              <a:rPr lang="en-US" sz="1500" dirty="0">
                <a:solidFill>
                  <a:schemeClr val="tx1"/>
                </a:solidFill>
              </a:rPr>
              <a:t>Explains and asks before acting</a:t>
            </a:r>
            <a:endParaRPr lang="en-US" sz="1500" dirty="0"/>
          </a:p>
          <a:p>
            <a:pPr marL="342900" indent="-342900">
              <a:spcAft>
                <a:spcPts val="800"/>
              </a:spcAft>
              <a:buSzPct val="100000"/>
              <a:buChar char="•"/>
            </a:pPr>
            <a:r>
              <a:rPr lang="en-US" sz="1500" dirty="0">
                <a:solidFill>
                  <a:schemeClr val="tx1"/>
                </a:solidFill>
              </a:rPr>
              <a:t>Fits in 34 KB, runs for free</a:t>
            </a:r>
            <a:endParaRPr lang="en-US" sz="1500" dirty="0"/>
          </a:p>
        </p:txBody>
      </p:sp>
      <p:sp>
        <p:nvSpPr>
          <p:cNvPr id="5" name="next card"/>
          <p:cNvSpPr/>
          <p:nvPr/>
        </p:nvSpPr>
        <p:spPr>
          <a:xfrm>
            <a:off x="4663440" y="1371600"/>
            <a:ext cx="3931920" cy="2651760"/>
          </a:xfrm>
          <a:prstGeom prst="roundRect">
            <a:avLst>
              <a:gd name="adj" fmla="val 4138"/>
            </a:avLst>
          </a:prstGeom>
          <a:solidFill>
            <a:schemeClr val="bg2"/>
          </a:solidFill>
          <a:ln w="9525">
            <a:solidFill>
              <a:schemeClr val="accent5"/>
            </a:solidFill>
            <a:prstDash val="solid"/>
          </a:ln>
        </p:spPr>
      </p:sp>
      <p:sp>
        <p:nvSpPr>
          <p:cNvPr id="6" name="Text 4"/>
          <p:cNvSpPr txBox="1"/>
          <p:nvPr/>
        </p:nvSpPr>
        <p:spPr>
          <a:xfrm>
            <a:off x="4892040" y="1554480"/>
            <a:ext cx="3566160" cy="2286000"/>
          </a:xfrm>
          <a:prstGeom prst="rect">
            <a:avLst/>
          </a:prstGeom>
          <a:noFill/>
          <a:ln/>
        </p:spPr>
        <p:txBody>
          <a:bodyPr wrap="square" lIns="0" tIns="0" rIns="0" bIns="0" rtlCol="0" anchor="t"/>
          <a:lstStyle/>
          <a:p>
            <a:pPr indent="0" marL="0">
              <a:spcAft>
                <a:spcPts val="800"/>
              </a:spcAft>
              <a:buNone/>
            </a:pPr>
            <a:r>
              <a:rPr lang="en-US" sz="1800" b="1" dirty="0">
                <a:solidFill>
                  <a:schemeClr val="accent3"/>
                </a:solidFill>
              </a:rPr>
              <a:t>Honest limits and next steps</a:t>
            </a:r>
            <a:endParaRPr lang="en-US" sz="1500" dirty="0"/>
          </a:p>
          <a:p>
            <a:pPr marL="342900" indent="-342900">
              <a:spcAft>
                <a:spcPts val="800"/>
              </a:spcAft>
              <a:buSzPct val="100000"/>
              <a:buChar char="•"/>
            </a:pPr>
            <a:r>
              <a:rPr lang="en-US" sz="1500" dirty="0">
                <a:solidFill>
                  <a:schemeClr val="tx1"/>
                </a:solidFill>
              </a:rPr>
              <a:t>Data is simulated: test on CICIDS2017 and real logs</a:t>
            </a:r>
            <a:endParaRPr lang="en-US" sz="1500" dirty="0"/>
          </a:p>
          <a:p>
            <a:pPr marL="342900" indent="-342900">
              <a:spcAft>
                <a:spcPts val="800"/>
              </a:spcAft>
              <a:buSzPct val="100000"/>
              <a:buChar char="•"/>
            </a:pPr>
            <a:r>
              <a:rPr lang="en-US" sz="1500" dirty="0">
                <a:solidFill>
                  <a:schemeClr val="tx1"/>
                </a:solidFill>
              </a:rPr>
              <a:t>Guardian actions are simulated: plug in a firewall API</a:t>
            </a:r>
            <a:endParaRPr lang="en-US" sz="1500" dirty="0"/>
          </a:p>
          <a:p>
            <a:pPr marL="342900" indent="-342900">
              <a:spcAft>
                <a:spcPts val="800"/>
              </a:spcAft>
              <a:buSzPct val="100000"/>
              <a:buChar char="•"/>
            </a:pPr>
            <a:r>
              <a:rPr lang="en-US" sz="1500" dirty="0">
                <a:solidFill>
                  <a:schemeClr val="tx1"/>
                </a:solidFill>
              </a:rPr>
              <a:t>Add a local LLM to write incident stories</a:t>
            </a:r>
            <a:endParaRPr lang="en-US" sz="1500" dirty="0"/>
          </a:p>
          <a:p>
            <a:pPr marL="342900" indent="-342900">
              <a:spcAft>
                <a:spcPts val="800"/>
              </a:spcAft>
              <a:buSzPct val="100000"/>
              <a:buChar char="•"/>
            </a:pPr>
            <a:r>
              <a:rPr lang="en-US" sz="1500" dirty="0">
                <a:solidFill>
                  <a:schemeClr val="tx1"/>
                </a:solidFill>
              </a:rPr>
              <a:t>Export to ONNX, train federated across servers</a:t>
            </a:r>
            <a:endParaRPr lang="en-US" sz="1500" dirty="0"/>
          </a:p>
        </p:txBody>
      </p:sp>
      <p:sp>
        <p:nvSpPr>
          <p:cNvPr id="7" name="Text 5"/>
          <p:cNvSpPr txBox="1"/>
          <p:nvPr/>
        </p:nvSpPr>
        <p:spPr>
          <a:xfrm>
            <a:off x="548640" y="4114800"/>
            <a:ext cx="5669280" cy="45720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Thank you. Questions?</a:t>
            </a:r>
            <a:endParaRPr lang="en-US" sz="2400" dirty="0"/>
          </a:p>
        </p:txBody>
      </p:sp>
      <p:sp>
        <p:nvSpPr>
          <p:cNvPr id="8" name="Text 6"/>
          <p:cNvSpPr txBox="1"/>
          <p:nvPr/>
        </p:nvSpPr>
        <p:spPr>
          <a:xfrm>
            <a:off x="6309360" y="4187952"/>
            <a:ext cx="2286000" cy="365760"/>
          </a:xfrm>
          <a:prstGeom prst="rect">
            <a:avLst/>
          </a:prstGeom>
          <a:noFill/>
          <a:ln/>
        </p:spPr>
        <p:txBody>
          <a:bodyPr wrap="square" lIns="0" tIns="0" rIns="0" bIns="0" rtlCol="0" anchor="t"/>
          <a:lstStyle/>
          <a:p>
            <a:pPr algn="r" indent="0" marL="0">
              <a:buNone/>
            </a:pPr>
            <a:r>
              <a:rPr lang="en-US" sz="1400" dirty="0">
                <a:solidFill>
                  <a:schemeClr val="tx2"/>
                </a:solidFill>
              </a:rPr>
              <a:t>Rushi  |  Analyst</a:t>
            </a:r>
            <a:endParaRPr lang="en-US" sz="1400" dirty="0"/>
          </a:p>
        </p:txBody>
      </p:sp>
    </p:spTree>
  </p:cSld>
  <p:clrMapOvr>
    <a:masterClrMapping/>
  </p:clrMapOvr>
</p:sld>
</file>

<file path=ppt/theme/theme1.xml><?xml version="1.0" encoding="utf-8"?>
<a:theme xmlns:a="http://schemas.openxmlformats.org/drawingml/2006/main" name="AegisNet Dark">
  <a:themeElements>
    <a:clrScheme name="AegisNet Dark">
      <a:dk1>
        <a:srgbClr val="E8EEFF"/>
      </a:dk1>
      <a:lt1>
        <a:srgbClr val="0A0F1F"/>
      </a:lt1>
      <a:dk2>
        <a:srgbClr val="7F8DB3"/>
      </a:dk2>
      <a:lt2>
        <a:srgbClr val="121B33"/>
      </a:lt2>
      <a:accent1>
        <a:srgbClr val="00F0C8"/>
      </a:accent1>
      <a:accent2>
        <a:srgbClr val="FF3D71"/>
      </a:accent2>
      <a:accent3>
        <a:srgbClr val="FFB020"/>
      </a:accent3>
      <a:accent4>
        <a:srgbClr val="8B7BFF"/>
      </a:accent4>
      <a:accent5>
        <a:srgbClr val="22305A"/>
      </a:accent5>
      <a:accent6>
        <a:srgbClr val="3DDC97"/>
      </a:accent6>
      <a:hlink>
        <a:srgbClr val="00F0C8"/>
      </a:hlink>
      <a:folHlink>
        <a:srgbClr val="8B7BFF"/>
      </a:folHlink>
    </a:clrScheme>
    <a:fontScheme name="AegisNet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AegisNet - Edge-AI cyber-threat detection</dc:title>
  <dc:subject>PptxGenJS Presentation</dc:subject>
  <dc:creator>Rushi</dc:creator>
  <cp:lastModifiedBy>Rushi</cp:lastModifiedBy>
  <cp:revision>1</cp:revision>
  <dcterms:created xsi:type="dcterms:W3CDTF">2026-10-08T19:42:31Z</dcterms:created>
  <dcterms:modified xsi:type="dcterms:W3CDTF">2026-10-08T19:42:31Z</dcterms:modified>
</cp:coreProperties>
</file>